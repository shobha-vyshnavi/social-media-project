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League Spartan" charset="1" panose="00000800000000000000"/>
      <p:regular r:id="rId32"/>
    </p:embeddedFont>
    <p:embeddedFont>
      <p:font typeface="Archivo Black" charset="1" panose="020B0A03020202020B04"/>
      <p:regular r:id="rId33"/>
    </p:embeddedFont>
    <p:embeddedFont>
      <p:font typeface="Calibri (MS)" charset="1" panose="020F0502020204030204"/>
      <p:regular r:id="rId34"/>
    </p:embeddedFont>
    <p:embeddedFont>
      <p:font typeface="Century Gothic Paneuropean Bold" charset="1" panose="020B0702020202020204"/>
      <p:regular r:id="rId35"/>
    </p:embeddedFont>
    <p:embeddedFont>
      <p:font typeface="Lato Bold" charset="1" panose="020F0502020204030203"/>
      <p:regular r:id="rId36"/>
    </p:embeddedFont>
    <p:embeddedFont>
      <p:font typeface="Calibri (MS) Bold" charset="1" panose="020F0702030404030204"/>
      <p:regular r:id="rId37"/>
    </p:embeddedFont>
    <p:embeddedFont>
      <p:font typeface="Arial Bold" charset="1" panose="020B0704020202020204"/>
      <p:regular r:id="rId38"/>
    </p:embeddedFont>
    <p:embeddedFont>
      <p:font typeface="Arial" charset="1" panose="020B0604020202020204"/>
      <p:regular r:id="rId39"/>
    </p:embeddedFont>
    <p:embeddedFont>
      <p:font typeface="Roboto Bold" charset="1" panose="02000000000000000000"/>
      <p:regular r:id="rId40"/>
    </p:embeddedFont>
    <p:embeddedFont>
      <p:font typeface="Roboto" charset="1" panose="0200000000000000000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svg" Type="http://schemas.openxmlformats.org/officeDocument/2006/relationships/image"/><Relationship Id="rId2" Target="../media/image26.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62000"/>
            </a:blip>
            <a:stretch>
              <a:fillRect l="0" t="-12888" r="0" b="-12888"/>
            </a:stretch>
          </a:blipFill>
        </p:spPr>
      </p:sp>
      <p:sp>
        <p:nvSpPr>
          <p:cNvPr name="TextBox 3" id="3"/>
          <p:cNvSpPr txBox="true"/>
          <p:nvPr/>
        </p:nvSpPr>
        <p:spPr>
          <a:xfrm rot="0">
            <a:off x="1958934" y="4403359"/>
            <a:ext cx="14632428" cy="1898753"/>
          </a:xfrm>
          <a:prstGeom prst="rect">
            <a:avLst/>
          </a:prstGeom>
        </p:spPr>
        <p:txBody>
          <a:bodyPr anchor="t" rtlCol="false" tIns="0" lIns="0" bIns="0" rIns="0">
            <a:spAutoFit/>
          </a:bodyPr>
          <a:lstStyle/>
          <a:p>
            <a:pPr algn="ctr">
              <a:lnSpc>
                <a:spcPts val="9568"/>
              </a:lnSpc>
            </a:pPr>
            <a:r>
              <a:rPr lang="en-US" sz="7973" u="sng">
                <a:solidFill>
                  <a:srgbClr val="000000"/>
                </a:solidFill>
                <a:latin typeface="League Spartan"/>
                <a:ea typeface="League Spartan"/>
                <a:cs typeface="League Spartan"/>
                <a:sym typeface="League Spartan"/>
              </a:rPr>
              <a:t>SOCIAL MEDIA ANALYSIS </a:t>
            </a:r>
          </a:p>
          <a:p>
            <a:pPr algn="l">
              <a:lnSpc>
                <a:spcPts val="5581"/>
              </a:lnSpc>
            </a:pPr>
          </a:p>
        </p:txBody>
      </p:sp>
      <p:sp>
        <p:nvSpPr>
          <p:cNvPr name="TextBox 4" id="4"/>
          <p:cNvSpPr txBox="true"/>
          <p:nvPr/>
        </p:nvSpPr>
        <p:spPr>
          <a:xfrm rot="0">
            <a:off x="5214052" y="6071719"/>
            <a:ext cx="6982054" cy="1095375"/>
          </a:xfrm>
          <a:prstGeom prst="rect">
            <a:avLst/>
          </a:prstGeom>
        </p:spPr>
        <p:txBody>
          <a:bodyPr anchor="t" rtlCol="false" tIns="0" lIns="0" bIns="0" rIns="0">
            <a:spAutoFit/>
          </a:bodyPr>
          <a:lstStyle/>
          <a:p>
            <a:pPr algn="ctr">
              <a:lnSpc>
                <a:spcPts val="4320"/>
              </a:lnSpc>
            </a:pPr>
            <a:r>
              <a:rPr lang="en-US" sz="3600">
                <a:solidFill>
                  <a:srgbClr val="171616"/>
                </a:solidFill>
                <a:latin typeface="Archivo Black"/>
                <a:ea typeface="Archivo Black"/>
                <a:cs typeface="Archivo Black"/>
                <a:sym typeface="Archivo Black"/>
              </a:rPr>
              <a:t>Presented By:</a:t>
            </a:r>
          </a:p>
          <a:p>
            <a:pPr algn="ctr">
              <a:lnSpc>
                <a:spcPts val="4320"/>
              </a:lnSpc>
            </a:pPr>
            <a:r>
              <a:rPr lang="en-US" sz="3600">
                <a:solidFill>
                  <a:srgbClr val="171616"/>
                </a:solidFill>
                <a:latin typeface="Archivo Black"/>
                <a:ea typeface="Archivo Black"/>
                <a:cs typeface="Archivo Black"/>
                <a:sym typeface="Archivo Black"/>
              </a:rPr>
              <a:t>Shobha Vyshnavi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A5CC7E"/>
        </a:solidFill>
      </p:bgPr>
    </p:bg>
    <p:spTree>
      <p:nvGrpSpPr>
        <p:cNvPr id="1" name=""/>
        <p:cNvGrpSpPr/>
        <p:nvPr/>
      </p:nvGrpSpPr>
      <p:grpSpPr>
        <a:xfrm>
          <a:off x="0" y="0"/>
          <a:ext cx="0" cy="0"/>
          <a:chOff x="0" y="0"/>
          <a:chExt cx="0" cy="0"/>
        </a:xfrm>
      </p:grpSpPr>
      <p:sp>
        <p:nvSpPr>
          <p:cNvPr name="TextBox 2" id="2"/>
          <p:cNvSpPr txBox="true"/>
          <p:nvPr/>
        </p:nvSpPr>
        <p:spPr>
          <a:xfrm rot="0">
            <a:off x="592465" y="1597581"/>
            <a:ext cx="17103004" cy="2330129"/>
          </a:xfrm>
          <a:prstGeom prst="rect">
            <a:avLst/>
          </a:prstGeom>
        </p:spPr>
        <p:txBody>
          <a:bodyPr anchor="t" rtlCol="false" tIns="0" lIns="0" bIns="0" rIns="0">
            <a:spAutoFit/>
          </a:bodyPr>
          <a:lstStyle/>
          <a:p>
            <a:pPr algn="l">
              <a:lnSpc>
                <a:spcPts val="4320"/>
              </a:lnSpc>
            </a:pPr>
            <a:r>
              <a:rPr lang="en-US" sz="3600">
                <a:solidFill>
                  <a:srgbClr val="262626"/>
                </a:solidFill>
                <a:latin typeface="Calibri (MS)"/>
                <a:ea typeface="Calibri (MS)"/>
                <a:cs typeface="Calibri (MS)"/>
                <a:sym typeface="Calibri (MS)"/>
              </a:rPr>
              <a:t>Meta is a leading technology company focused on building innovative digital experiences that connect people, communities, and businesses globally. Its ecosystem—including Facebook, Instagram, WhatsApp, and Reality Labs—empowers billions to share, create, and explore immersive digital worlds.</a:t>
            </a:r>
          </a:p>
        </p:txBody>
      </p:sp>
      <p:sp>
        <p:nvSpPr>
          <p:cNvPr name="TextBox 3" id="3"/>
          <p:cNvSpPr txBox="true"/>
          <p:nvPr/>
        </p:nvSpPr>
        <p:spPr>
          <a:xfrm rot="0">
            <a:off x="4591831" y="316297"/>
            <a:ext cx="9104328" cy="878100"/>
          </a:xfrm>
          <a:prstGeom prst="rect">
            <a:avLst/>
          </a:prstGeom>
        </p:spPr>
        <p:txBody>
          <a:bodyPr anchor="t" rtlCol="false" tIns="0" lIns="0" bIns="0" rIns="0">
            <a:spAutoFit/>
          </a:bodyPr>
          <a:lstStyle/>
          <a:p>
            <a:pPr algn="ctr">
              <a:lnSpc>
                <a:spcPts val="6480"/>
              </a:lnSpc>
            </a:pPr>
            <a:r>
              <a:rPr lang="en-US" b="true" sz="5400">
                <a:solidFill>
                  <a:srgbClr val="00695C"/>
                </a:solidFill>
                <a:latin typeface="Century Gothic Paneuropean Bold"/>
                <a:ea typeface="Century Gothic Paneuropean Bold"/>
                <a:cs typeface="Century Gothic Paneuropean Bold"/>
                <a:sym typeface="Century Gothic Paneuropean Bold"/>
              </a:rPr>
              <a:t>ABOUT META</a:t>
            </a:r>
          </a:p>
        </p:txBody>
      </p:sp>
      <p:grpSp>
        <p:nvGrpSpPr>
          <p:cNvPr name="Group 4" id="4"/>
          <p:cNvGrpSpPr/>
          <p:nvPr/>
        </p:nvGrpSpPr>
        <p:grpSpPr>
          <a:xfrm rot="0">
            <a:off x="2471671" y="4215898"/>
            <a:ext cx="13183724" cy="5904824"/>
            <a:chOff x="0" y="0"/>
            <a:chExt cx="17578299" cy="7873098"/>
          </a:xfrm>
        </p:grpSpPr>
        <p:sp>
          <p:nvSpPr>
            <p:cNvPr name="Freeform 5" id="5"/>
            <p:cNvSpPr/>
            <p:nvPr/>
          </p:nvSpPr>
          <p:spPr>
            <a:xfrm flipH="false" flipV="false" rot="0">
              <a:off x="0" y="0"/>
              <a:ext cx="17578324" cy="7873111"/>
            </a:xfrm>
            <a:custGeom>
              <a:avLst/>
              <a:gdLst/>
              <a:ahLst/>
              <a:cxnLst/>
              <a:rect r="r" b="b" t="t" l="l"/>
              <a:pathLst>
                <a:path h="7873111" w="17578324">
                  <a:moveTo>
                    <a:pt x="0" y="0"/>
                  </a:moveTo>
                  <a:lnTo>
                    <a:pt x="17578324" y="0"/>
                  </a:lnTo>
                  <a:lnTo>
                    <a:pt x="17578324" y="7873111"/>
                  </a:lnTo>
                  <a:lnTo>
                    <a:pt x="0" y="7873111"/>
                  </a:lnTo>
                  <a:lnTo>
                    <a:pt x="0" y="0"/>
                  </a:lnTo>
                  <a:close/>
                </a:path>
              </a:pathLst>
            </a:custGeom>
            <a:blipFill>
              <a:blip r:embed="rId2"/>
              <a:stretch>
                <a:fillRect l="-2499" t="0" r="-1903" b="0"/>
              </a:stretch>
            </a:blipFill>
          </p:spPr>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436996" y="536658"/>
            <a:ext cx="3058906" cy="878100"/>
          </a:xfrm>
          <a:prstGeom prst="rect">
            <a:avLst/>
          </a:prstGeom>
        </p:spPr>
        <p:txBody>
          <a:bodyPr anchor="t" rtlCol="false" tIns="0" lIns="0" bIns="0" rIns="0">
            <a:spAutoFit/>
          </a:bodyPr>
          <a:lstStyle/>
          <a:p>
            <a:pPr algn="ctr">
              <a:lnSpc>
                <a:spcPts val="6480"/>
              </a:lnSpc>
            </a:pPr>
            <a:r>
              <a:rPr lang="en-US" b="true" sz="5400">
                <a:solidFill>
                  <a:srgbClr val="00695C"/>
                </a:solidFill>
                <a:latin typeface="Century Gothic Paneuropean Bold"/>
                <a:ea typeface="Century Gothic Paneuropean Bold"/>
                <a:cs typeface="Century Gothic Paneuropean Bold"/>
                <a:sym typeface="Century Gothic Paneuropean Bold"/>
              </a:rPr>
              <a:t>AGENDA</a:t>
            </a:r>
          </a:p>
        </p:txBody>
      </p:sp>
      <p:grpSp>
        <p:nvGrpSpPr>
          <p:cNvPr name="Group 3" id="3"/>
          <p:cNvGrpSpPr/>
          <p:nvPr/>
        </p:nvGrpSpPr>
        <p:grpSpPr>
          <a:xfrm rot="0">
            <a:off x="482251" y="2498941"/>
            <a:ext cx="3324768" cy="6167523"/>
            <a:chOff x="0" y="0"/>
            <a:chExt cx="4433024" cy="8223364"/>
          </a:xfrm>
        </p:grpSpPr>
        <p:sp>
          <p:nvSpPr>
            <p:cNvPr name="Freeform 4" id="4"/>
            <p:cNvSpPr/>
            <p:nvPr/>
          </p:nvSpPr>
          <p:spPr>
            <a:xfrm flipH="false" flipV="false" rot="0">
              <a:off x="0" y="0"/>
              <a:ext cx="4433062" cy="8223377"/>
            </a:xfrm>
            <a:custGeom>
              <a:avLst/>
              <a:gdLst/>
              <a:ahLst/>
              <a:cxnLst/>
              <a:rect r="r" b="b" t="t" l="l"/>
              <a:pathLst>
                <a:path h="8223377" w="4433062">
                  <a:moveTo>
                    <a:pt x="0" y="0"/>
                  </a:moveTo>
                  <a:lnTo>
                    <a:pt x="4433062" y="0"/>
                  </a:lnTo>
                  <a:lnTo>
                    <a:pt x="4433062" y="8223377"/>
                  </a:lnTo>
                  <a:lnTo>
                    <a:pt x="0" y="8223377"/>
                  </a:lnTo>
                  <a:close/>
                </a:path>
              </a:pathLst>
            </a:custGeom>
            <a:solidFill>
              <a:srgbClr val="BBA6E2"/>
            </a:solidFill>
          </p:spPr>
        </p:sp>
      </p:grpSp>
      <p:grpSp>
        <p:nvGrpSpPr>
          <p:cNvPr name="Group 5" id="5"/>
          <p:cNvGrpSpPr/>
          <p:nvPr/>
        </p:nvGrpSpPr>
        <p:grpSpPr>
          <a:xfrm rot="0">
            <a:off x="3986794" y="2498941"/>
            <a:ext cx="3324768" cy="6167523"/>
            <a:chOff x="0" y="0"/>
            <a:chExt cx="4433024" cy="8223364"/>
          </a:xfrm>
        </p:grpSpPr>
        <p:sp>
          <p:nvSpPr>
            <p:cNvPr name="Freeform 6" id="6"/>
            <p:cNvSpPr/>
            <p:nvPr/>
          </p:nvSpPr>
          <p:spPr>
            <a:xfrm flipH="false" flipV="false" rot="0">
              <a:off x="0" y="0"/>
              <a:ext cx="4433062" cy="8223377"/>
            </a:xfrm>
            <a:custGeom>
              <a:avLst/>
              <a:gdLst/>
              <a:ahLst/>
              <a:cxnLst/>
              <a:rect r="r" b="b" t="t" l="l"/>
              <a:pathLst>
                <a:path h="8223377" w="4433062">
                  <a:moveTo>
                    <a:pt x="0" y="0"/>
                  </a:moveTo>
                  <a:lnTo>
                    <a:pt x="4433062" y="0"/>
                  </a:lnTo>
                  <a:lnTo>
                    <a:pt x="4433062" y="8223377"/>
                  </a:lnTo>
                  <a:lnTo>
                    <a:pt x="0" y="8223377"/>
                  </a:lnTo>
                  <a:close/>
                </a:path>
              </a:pathLst>
            </a:custGeom>
            <a:solidFill>
              <a:srgbClr val="FF9999"/>
            </a:solidFill>
          </p:spPr>
        </p:sp>
      </p:grpSp>
      <p:grpSp>
        <p:nvGrpSpPr>
          <p:cNvPr name="Group 7" id="7"/>
          <p:cNvGrpSpPr/>
          <p:nvPr/>
        </p:nvGrpSpPr>
        <p:grpSpPr>
          <a:xfrm rot="0">
            <a:off x="7491336" y="2498941"/>
            <a:ext cx="3324768" cy="6167523"/>
            <a:chOff x="0" y="0"/>
            <a:chExt cx="4433024" cy="8223364"/>
          </a:xfrm>
        </p:grpSpPr>
        <p:sp>
          <p:nvSpPr>
            <p:cNvPr name="Freeform 8" id="8"/>
            <p:cNvSpPr/>
            <p:nvPr/>
          </p:nvSpPr>
          <p:spPr>
            <a:xfrm flipH="false" flipV="false" rot="0">
              <a:off x="0" y="0"/>
              <a:ext cx="4433062" cy="8223377"/>
            </a:xfrm>
            <a:custGeom>
              <a:avLst/>
              <a:gdLst/>
              <a:ahLst/>
              <a:cxnLst/>
              <a:rect r="r" b="b" t="t" l="l"/>
              <a:pathLst>
                <a:path h="8223377" w="4433062">
                  <a:moveTo>
                    <a:pt x="0" y="0"/>
                  </a:moveTo>
                  <a:lnTo>
                    <a:pt x="4433062" y="0"/>
                  </a:lnTo>
                  <a:lnTo>
                    <a:pt x="4433062" y="8223377"/>
                  </a:lnTo>
                  <a:lnTo>
                    <a:pt x="0" y="8223377"/>
                  </a:lnTo>
                  <a:close/>
                </a:path>
              </a:pathLst>
            </a:custGeom>
            <a:solidFill>
              <a:srgbClr val="A5CC7E"/>
            </a:solidFill>
          </p:spPr>
        </p:sp>
      </p:grpSp>
      <p:grpSp>
        <p:nvGrpSpPr>
          <p:cNvPr name="Group 9" id="9"/>
          <p:cNvGrpSpPr/>
          <p:nvPr/>
        </p:nvGrpSpPr>
        <p:grpSpPr>
          <a:xfrm rot="0">
            <a:off x="10995879" y="2498941"/>
            <a:ext cx="3324768" cy="6167523"/>
            <a:chOff x="0" y="0"/>
            <a:chExt cx="4433024" cy="8223364"/>
          </a:xfrm>
        </p:grpSpPr>
        <p:sp>
          <p:nvSpPr>
            <p:cNvPr name="Freeform 10" id="10"/>
            <p:cNvSpPr/>
            <p:nvPr/>
          </p:nvSpPr>
          <p:spPr>
            <a:xfrm flipH="false" flipV="false" rot="0">
              <a:off x="0" y="0"/>
              <a:ext cx="4433062" cy="8223377"/>
            </a:xfrm>
            <a:custGeom>
              <a:avLst/>
              <a:gdLst/>
              <a:ahLst/>
              <a:cxnLst/>
              <a:rect r="r" b="b" t="t" l="l"/>
              <a:pathLst>
                <a:path h="8223377" w="4433062">
                  <a:moveTo>
                    <a:pt x="0" y="0"/>
                  </a:moveTo>
                  <a:lnTo>
                    <a:pt x="4433062" y="0"/>
                  </a:lnTo>
                  <a:lnTo>
                    <a:pt x="4433062" y="8223377"/>
                  </a:lnTo>
                  <a:lnTo>
                    <a:pt x="0" y="8223377"/>
                  </a:lnTo>
                  <a:close/>
                </a:path>
              </a:pathLst>
            </a:custGeom>
            <a:solidFill>
              <a:srgbClr val="FFD966"/>
            </a:solidFill>
          </p:spPr>
        </p:sp>
      </p:grpSp>
      <p:sp>
        <p:nvSpPr>
          <p:cNvPr name="TextBox 11" id="11"/>
          <p:cNvSpPr txBox="true"/>
          <p:nvPr/>
        </p:nvSpPr>
        <p:spPr>
          <a:xfrm rot="0">
            <a:off x="1552470" y="4236396"/>
            <a:ext cx="1557223" cy="867518"/>
          </a:xfrm>
          <a:prstGeom prst="rect">
            <a:avLst/>
          </a:prstGeom>
        </p:spPr>
        <p:txBody>
          <a:bodyPr anchor="t" rtlCol="false" tIns="0" lIns="0" bIns="0" rIns="0">
            <a:spAutoFit/>
          </a:bodyPr>
          <a:lstStyle/>
          <a:p>
            <a:pPr algn="l">
              <a:lnSpc>
                <a:spcPts val="6480"/>
              </a:lnSpc>
            </a:pPr>
            <a:r>
              <a:rPr lang="en-US" b="true" sz="5400">
                <a:solidFill>
                  <a:srgbClr val="FFFFFF"/>
                </a:solidFill>
                <a:latin typeface="Century Gothic Paneuropean Bold"/>
                <a:ea typeface="Century Gothic Paneuropean Bold"/>
                <a:cs typeface="Century Gothic Paneuropean Bold"/>
                <a:sym typeface="Century Gothic Paneuropean Bold"/>
              </a:rPr>
              <a:t>01</a:t>
            </a:r>
          </a:p>
        </p:txBody>
      </p:sp>
      <p:sp>
        <p:nvSpPr>
          <p:cNvPr name="TextBox 12" id="12"/>
          <p:cNvSpPr txBox="true"/>
          <p:nvPr/>
        </p:nvSpPr>
        <p:spPr>
          <a:xfrm rot="0">
            <a:off x="4530671" y="4236396"/>
            <a:ext cx="1557223" cy="958834"/>
          </a:xfrm>
          <a:prstGeom prst="rect">
            <a:avLst/>
          </a:prstGeom>
        </p:spPr>
        <p:txBody>
          <a:bodyPr anchor="t" rtlCol="false" tIns="0" lIns="0" bIns="0" rIns="0">
            <a:spAutoFit/>
          </a:bodyPr>
          <a:lstStyle/>
          <a:p>
            <a:pPr algn="l">
              <a:lnSpc>
                <a:spcPts val="7200"/>
              </a:lnSpc>
            </a:pPr>
            <a:r>
              <a:rPr lang="en-US" b="true" sz="6000">
                <a:solidFill>
                  <a:srgbClr val="FFFFFF"/>
                </a:solidFill>
                <a:latin typeface="Century Gothic Paneuropean Bold"/>
                <a:ea typeface="Century Gothic Paneuropean Bold"/>
                <a:cs typeface="Century Gothic Paneuropean Bold"/>
                <a:sym typeface="Century Gothic Paneuropean Bold"/>
              </a:rPr>
              <a:t>02</a:t>
            </a:r>
          </a:p>
        </p:txBody>
      </p:sp>
      <p:sp>
        <p:nvSpPr>
          <p:cNvPr name="TextBox 13" id="13"/>
          <p:cNvSpPr txBox="true"/>
          <p:nvPr/>
        </p:nvSpPr>
        <p:spPr>
          <a:xfrm rot="0">
            <a:off x="7996828" y="4236396"/>
            <a:ext cx="1557223" cy="867518"/>
          </a:xfrm>
          <a:prstGeom prst="rect">
            <a:avLst/>
          </a:prstGeom>
        </p:spPr>
        <p:txBody>
          <a:bodyPr anchor="t" rtlCol="false" tIns="0" lIns="0" bIns="0" rIns="0">
            <a:spAutoFit/>
          </a:bodyPr>
          <a:lstStyle/>
          <a:p>
            <a:pPr algn="l">
              <a:lnSpc>
                <a:spcPts val="6480"/>
              </a:lnSpc>
            </a:pPr>
            <a:r>
              <a:rPr lang="en-US" b="true" sz="5400">
                <a:solidFill>
                  <a:srgbClr val="FFFFFF"/>
                </a:solidFill>
                <a:latin typeface="Century Gothic Paneuropean Bold"/>
                <a:ea typeface="Century Gothic Paneuropean Bold"/>
                <a:cs typeface="Century Gothic Paneuropean Bold"/>
                <a:sym typeface="Century Gothic Paneuropean Bold"/>
              </a:rPr>
              <a:t>03</a:t>
            </a:r>
          </a:p>
        </p:txBody>
      </p:sp>
      <p:sp>
        <p:nvSpPr>
          <p:cNvPr name="TextBox 14" id="14"/>
          <p:cNvSpPr txBox="true"/>
          <p:nvPr/>
        </p:nvSpPr>
        <p:spPr>
          <a:xfrm rot="0">
            <a:off x="11501371" y="4236396"/>
            <a:ext cx="1557223" cy="867518"/>
          </a:xfrm>
          <a:prstGeom prst="rect">
            <a:avLst/>
          </a:prstGeom>
        </p:spPr>
        <p:txBody>
          <a:bodyPr anchor="t" rtlCol="false" tIns="0" lIns="0" bIns="0" rIns="0">
            <a:spAutoFit/>
          </a:bodyPr>
          <a:lstStyle/>
          <a:p>
            <a:pPr algn="l">
              <a:lnSpc>
                <a:spcPts val="6480"/>
              </a:lnSpc>
            </a:pPr>
            <a:r>
              <a:rPr lang="en-US" b="true" sz="5400">
                <a:solidFill>
                  <a:srgbClr val="FFFFFF"/>
                </a:solidFill>
                <a:latin typeface="Century Gothic Paneuropean Bold"/>
                <a:ea typeface="Century Gothic Paneuropean Bold"/>
                <a:cs typeface="Century Gothic Paneuropean Bold"/>
                <a:sym typeface="Century Gothic Paneuropean Bold"/>
              </a:rPr>
              <a:t>04</a:t>
            </a:r>
          </a:p>
        </p:txBody>
      </p:sp>
      <p:sp>
        <p:nvSpPr>
          <p:cNvPr name="TextBox 15" id="15"/>
          <p:cNvSpPr txBox="true"/>
          <p:nvPr/>
        </p:nvSpPr>
        <p:spPr>
          <a:xfrm rot="0">
            <a:off x="1121159" y="5607920"/>
            <a:ext cx="2157032" cy="968359"/>
          </a:xfrm>
          <a:prstGeom prst="rect">
            <a:avLst/>
          </a:prstGeom>
        </p:spPr>
        <p:txBody>
          <a:bodyPr anchor="t" rtlCol="false" tIns="0" lIns="0" bIns="0" rIns="0">
            <a:spAutoFit/>
          </a:bodyPr>
          <a:lstStyle/>
          <a:p>
            <a:pPr algn="l">
              <a:lnSpc>
                <a:spcPts val="3600"/>
              </a:lnSpc>
            </a:pPr>
            <a:r>
              <a:rPr lang="en-US" b="true" sz="3000">
                <a:solidFill>
                  <a:srgbClr val="FFFFFF"/>
                </a:solidFill>
                <a:latin typeface="Lato Bold"/>
                <a:ea typeface="Lato Bold"/>
                <a:cs typeface="Lato Bold"/>
                <a:sym typeface="Lato Bold"/>
              </a:rPr>
              <a:t>Problem Statement</a:t>
            </a:r>
          </a:p>
        </p:txBody>
      </p:sp>
      <p:sp>
        <p:nvSpPr>
          <p:cNvPr name="TextBox 16" id="16"/>
          <p:cNvSpPr txBox="true"/>
          <p:nvPr/>
        </p:nvSpPr>
        <p:spPr>
          <a:xfrm rot="0">
            <a:off x="4569009" y="5584927"/>
            <a:ext cx="2157032" cy="968359"/>
          </a:xfrm>
          <a:prstGeom prst="rect">
            <a:avLst/>
          </a:prstGeom>
        </p:spPr>
        <p:txBody>
          <a:bodyPr anchor="t" rtlCol="false" tIns="0" lIns="0" bIns="0" rIns="0">
            <a:spAutoFit/>
          </a:bodyPr>
          <a:lstStyle/>
          <a:p>
            <a:pPr algn="l">
              <a:lnSpc>
                <a:spcPts val="3600"/>
              </a:lnSpc>
            </a:pPr>
            <a:r>
              <a:rPr lang="en-US" b="true" sz="3000">
                <a:solidFill>
                  <a:srgbClr val="FFFFFF"/>
                </a:solidFill>
                <a:latin typeface="Lato Bold"/>
                <a:ea typeface="Lato Bold"/>
                <a:cs typeface="Lato Bold"/>
                <a:sym typeface="Lato Bold"/>
              </a:rPr>
              <a:t>Data Description</a:t>
            </a:r>
          </a:p>
        </p:txBody>
      </p:sp>
      <p:sp>
        <p:nvSpPr>
          <p:cNvPr name="TextBox 17" id="17"/>
          <p:cNvSpPr txBox="true"/>
          <p:nvPr/>
        </p:nvSpPr>
        <p:spPr>
          <a:xfrm rot="0">
            <a:off x="7520102" y="5453301"/>
            <a:ext cx="2873426" cy="1646215"/>
          </a:xfrm>
          <a:prstGeom prst="rect">
            <a:avLst/>
          </a:prstGeom>
        </p:spPr>
        <p:txBody>
          <a:bodyPr anchor="t" rtlCol="false" tIns="0" lIns="0" bIns="0" rIns="0">
            <a:spAutoFit/>
          </a:bodyPr>
          <a:lstStyle/>
          <a:p>
            <a:pPr algn="l">
              <a:lnSpc>
                <a:spcPts val="4140"/>
              </a:lnSpc>
            </a:pPr>
            <a:r>
              <a:rPr lang="en-US" b="true" sz="3000">
                <a:solidFill>
                  <a:srgbClr val="FFFFFF"/>
                </a:solidFill>
                <a:latin typeface="Lato Bold"/>
                <a:ea typeface="Lato Bold"/>
                <a:cs typeface="Lato Bold"/>
                <a:sym typeface="Lato Bold"/>
              </a:rPr>
              <a:t>Key Metrics and Visualizations</a:t>
            </a:r>
          </a:p>
        </p:txBody>
      </p:sp>
      <p:sp>
        <p:nvSpPr>
          <p:cNvPr name="TextBox 18" id="18"/>
          <p:cNvSpPr txBox="true"/>
          <p:nvPr/>
        </p:nvSpPr>
        <p:spPr>
          <a:xfrm rot="0">
            <a:off x="11401796" y="5584927"/>
            <a:ext cx="2493483" cy="1441618"/>
          </a:xfrm>
          <a:prstGeom prst="rect">
            <a:avLst/>
          </a:prstGeom>
        </p:spPr>
        <p:txBody>
          <a:bodyPr anchor="t" rtlCol="false" tIns="0" lIns="0" bIns="0" rIns="0">
            <a:spAutoFit/>
          </a:bodyPr>
          <a:lstStyle/>
          <a:p>
            <a:pPr algn="l">
              <a:lnSpc>
                <a:spcPts val="3600"/>
              </a:lnSpc>
            </a:pPr>
            <a:r>
              <a:rPr lang="en-US" b="true" sz="3000">
                <a:solidFill>
                  <a:srgbClr val="FFFFFF"/>
                </a:solidFill>
                <a:latin typeface="Lato Bold"/>
                <a:ea typeface="Lato Bold"/>
                <a:cs typeface="Lato Bold"/>
                <a:sym typeface="Lato Bold"/>
              </a:rPr>
              <a:t>Targeted marketing strategies</a:t>
            </a:r>
          </a:p>
        </p:txBody>
      </p:sp>
      <p:grpSp>
        <p:nvGrpSpPr>
          <p:cNvPr name="Group 19" id="19"/>
          <p:cNvGrpSpPr/>
          <p:nvPr/>
        </p:nvGrpSpPr>
        <p:grpSpPr>
          <a:xfrm rot="0">
            <a:off x="14480981" y="2498941"/>
            <a:ext cx="3324768" cy="6167523"/>
            <a:chOff x="0" y="0"/>
            <a:chExt cx="4433024" cy="8223364"/>
          </a:xfrm>
        </p:grpSpPr>
        <p:sp>
          <p:nvSpPr>
            <p:cNvPr name="Freeform 20" id="20"/>
            <p:cNvSpPr/>
            <p:nvPr/>
          </p:nvSpPr>
          <p:spPr>
            <a:xfrm flipH="false" flipV="false" rot="0">
              <a:off x="0" y="0"/>
              <a:ext cx="4433062" cy="8223377"/>
            </a:xfrm>
            <a:custGeom>
              <a:avLst/>
              <a:gdLst/>
              <a:ahLst/>
              <a:cxnLst/>
              <a:rect r="r" b="b" t="t" l="l"/>
              <a:pathLst>
                <a:path h="8223377" w="4433062">
                  <a:moveTo>
                    <a:pt x="0" y="0"/>
                  </a:moveTo>
                  <a:lnTo>
                    <a:pt x="4433062" y="0"/>
                  </a:lnTo>
                  <a:lnTo>
                    <a:pt x="4433062" y="8223377"/>
                  </a:lnTo>
                  <a:lnTo>
                    <a:pt x="0" y="8223377"/>
                  </a:lnTo>
                  <a:close/>
                </a:path>
              </a:pathLst>
            </a:custGeom>
            <a:solidFill>
              <a:srgbClr val="BBD6EE"/>
            </a:solidFill>
          </p:spPr>
        </p:sp>
      </p:grpSp>
      <p:sp>
        <p:nvSpPr>
          <p:cNvPr name="TextBox 21" id="21"/>
          <p:cNvSpPr txBox="true"/>
          <p:nvPr/>
        </p:nvSpPr>
        <p:spPr>
          <a:xfrm rot="0">
            <a:off x="14643573" y="5490343"/>
            <a:ext cx="2999575" cy="490299"/>
          </a:xfrm>
          <a:prstGeom prst="rect">
            <a:avLst/>
          </a:prstGeom>
        </p:spPr>
        <p:txBody>
          <a:bodyPr anchor="t" rtlCol="false" tIns="0" lIns="0" bIns="0" rIns="0">
            <a:spAutoFit/>
          </a:bodyPr>
          <a:lstStyle/>
          <a:p>
            <a:pPr algn="ctr">
              <a:lnSpc>
                <a:spcPts val="3455"/>
              </a:lnSpc>
            </a:pPr>
            <a:r>
              <a:rPr lang="en-US" b="true" sz="2879">
                <a:solidFill>
                  <a:srgbClr val="FFFFFF"/>
                </a:solidFill>
                <a:latin typeface="Lato Bold"/>
                <a:ea typeface="Lato Bold"/>
                <a:cs typeface="Lato Bold"/>
                <a:sym typeface="Lato Bold"/>
              </a:rPr>
              <a:t>Conclusion</a:t>
            </a:r>
          </a:p>
        </p:txBody>
      </p:sp>
      <p:sp>
        <p:nvSpPr>
          <p:cNvPr name="TextBox 22" id="22"/>
          <p:cNvSpPr txBox="true"/>
          <p:nvPr/>
        </p:nvSpPr>
        <p:spPr>
          <a:xfrm rot="0">
            <a:off x="15406964" y="4349258"/>
            <a:ext cx="1430417" cy="867518"/>
          </a:xfrm>
          <a:prstGeom prst="rect">
            <a:avLst/>
          </a:prstGeom>
        </p:spPr>
        <p:txBody>
          <a:bodyPr anchor="t" rtlCol="false" tIns="0" lIns="0" bIns="0" rIns="0">
            <a:spAutoFit/>
          </a:bodyPr>
          <a:lstStyle/>
          <a:p>
            <a:pPr algn="l">
              <a:lnSpc>
                <a:spcPts val="6480"/>
              </a:lnSpc>
            </a:pPr>
            <a:r>
              <a:rPr lang="en-US" b="true" sz="5400">
                <a:solidFill>
                  <a:srgbClr val="FFFFFF"/>
                </a:solidFill>
                <a:latin typeface="Century Gothic Paneuropean Bold"/>
                <a:ea typeface="Century Gothic Paneuropean Bold"/>
                <a:cs typeface="Century Gothic Paneuropean Bold"/>
                <a:sym typeface="Century Gothic Paneuropean Bold"/>
              </a:rPr>
              <a:t>05</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54066"/>
        </a:solidFill>
      </p:bgPr>
    </p:bg>
    <p:spTree>
      <p:nvGrpSpPr>
        <p:cNvPr id="1" name=""/>
        <p:cNvGrpSpPr/>
        <p:nvPr/>
      </p:nvGrpSpPr>
      <p:grpSpPr>
        <a:xfrm>
          <a:off x="0" y="0"/>
          <a:ext cx="0" cy="0"/>
          <a:chOff x="0" y="0"/>
          <a:chExt cx="0" cy="0"/>
        </a:xfrm>
      </p:grpSpPr>
      <p:sp>
        <p:nvSpPr>
          <p:cNvPr name="TextBox 2" id="2"/>
          <p:cNvSpPr txBox="true"/>
          <p:nvPr/>
        </p:nvSpPr>
        <p:spPr>
          <a:xfrm rot="0">
            <a:off x="883996" y="1401013"/>
            <a:ext cx="16727253" cy="4039572"/>
          </a:xfrm>
          <a:prstGeom prst="rect">
            <a:avLst/>
          </a:prstGeom>
        </p:spPr>
        <p:txBody>
          <a:bodyPr anchor="t" rtlCol="false" tIns="0" lIns="0" bIns="0" rIns="0">
            <a:spAutoFit/>
          </a:bodyPr>
          <a:lstStyle/>
          <a:p>
            <a:pPr algn="l">
              <a:lnSpc>
                <a:spcPts val="4320"/>
              </a:lnSpc>
            </a:pPr>
            <a:r>
              <a:rPr lang="en-US" sz="3600">
                <a:solidFill>
                  <a:srgbClr val="FFFFFF"/>
                </a:solidFill>
                <a:latin typeface="Calibri (MS)"/>
                <a:ea typeface="Calibri (MS)"/>
                <a:cs typeface="Calibri (MS)"/>
                <a:sym typeface="Calibri (MS)"/>
              </a:rPr>
              <a:t>The Marketing team at Meta seeks to enhance Instagram’s performance by improving user engagement, retention, and acquisition through data-driven marketing strategies. However, the current challenge lies in effectively utilizing Instagram’s vast user data to identify actionable insights that can guide these strategies.</a:t>
            </a:r>
          </a:p>
          <a:p>
            <a:pPr algn="l">
              <a:lnSpc>
                <a:spcPts val="4320"/>
              </a:lnSpc>
            </a:pPr>
            <a:r>
              <a:rPr lang="en-US" sz="3600">
                <a:solidFill>
                  <a:srgbClr val="FFFFFF"/>
                </a:solidFill>
                <a:latin typeface="Calibri (MS)"/>
                <a:ea typeface="Calibri (MS)"/>
                <a:cs typeface="Calibri (MS)"/>
                <a:sym typeface="Calibri (MS)"/>
              </a:rPr>
              <a:t>Analytics team to has analyze Instagram’s user data and deliver clear, data-backed insights and recommendations to support targeted marketing initiatives that address the identified challenges.</a:t>
            </a:r>
          </a:p>
        </p:txBody>
      </p:sp>
      <p:sp>
        <p:nvSpPr>
          <p:cNvPr name="TextBox 3" id="3"/>
          <p:cNvSpPr txBox="true"/>
          <p:nvPr/>
        </p:nvSpPr>
        <p:spPr>
          <a:xfrm rot="0">
            <a:off x="4591831" y="392039"/>
            <a:ext cx="9104328" cy="878100"/>
          </a:xfrm>
          <a:prstGeom prst="rect">
            <a:avLst/>
          </a:prstGeom>
        </p:spPr>
        <p:txBody>
          <a:bodyPr anchor="t" rtlCol="false" tIns="0" lIns="0" bIns="0" rIns="0">
            <a:spAutoFit/>
          </a:bodyPr>
          <a:lstStyle/>
          <a:p>
            <a:pPr algn="ctr">
              <a:lnSpc>
                <a:spcPts val="6480"/>
              </a:lnSpc>
            </a:pPr>
            <a:r>
              <a:rPr lang="en-US" b="true" sz="5400">
                <a:solidFill>
                  <a:srgbClr val="FFFFFF"/>
                </a:solidFill>
                <a:latin typeface="Century Gothic Paneuropean Bold"/>
                <a:ea typeface="Century Gothic Paneuropean Bold"/>
                <a:cs typeface="Century Gothic Paneuropean Bold"/>
                <a:sym typeface="Century Gothic Paneuropean Bold"/>
              </a:rPr>
              <a:t>PROBLEM STATEMENT</a:t>
            </a:r>
          </a:p>
        </p:txBody>
      </p:sp>
      <p:grpSp>
        <p:nvGrpSpPr>
          <p:cNvPr name="Group 4" id="4"/>
          <p:cNvGrpSpPr/>
          <p:nvPr/>
        </p:nvGrpSpPr>
        <p:grpSpPr>
          <a:xfrm rot="0">
            <a:off x="184299" y="5516785"/>
            <a:ext cx="17919402" cy="4167446"/>
            <a:chOff x="0" y="0"/>
            <a:chExt cx="23892535" cy="5556595"/>
          </a:xfrm>
        </p:grpSpPr>
        <p:sp>
          <p:nvSpPr>
            <p:cNvPr name="Freeform 5" id="5" descr="How Data Analysis Improved Marketing ROI by 20%?"/>
            <p:cNvSpPr/>
            <p:nvPr/>
          </p:nvSpPr>
          <p:spPr>
            <a:xfrm flipH="false" flipV="false" rot="0">
              <a:off x="0" y="0"/>
              <a:ext cx="23892511" cy="5556583"/>
            </a:xfrm>
            <a:custGeom>
              <a:avLst/>
              <a:gdLst/>
              <a:ahLst/>
              <a:cxnLst/>
              <a:rect r="r" b="b" t="t" l="l"/>
              <a:pathLst>
                <a:path h="5556583" w="23892511">
                  <a:moveTo>
                    <a:pt x="0" y="0"/>
                  </a:moveTo>
                  <a:lnTo>
                    <a:pt x="23892511" y="0"/>
                  </a:lnTo>
                  <a:lnTo>
                    <a:pt x="23892511" y="5556583"/>
                  </a:lnTo>
                  <a:lnTo>
                    <a:pt x="0" y="5556583"/>
                  </a:lnTo>
                  <a:lnTo>
                    <a:pt x="0" y="0"/>
                  </a:lnTo>
                  <a:close/>
                </a:path>
              </a:pathLst>
            </a:custGeom>
            <a:blipFill>
              <a:blip r:embed="rId2"/>
              <a:stretch>
                <a:fillRect l="0" t="-98572" r="0" b="-43294"/>
              </a:stretch>
            </a:blipFill>
          </p:spPr>
        </p:sp>
      </p:gr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591831" y="302400"/>
            <a:ext cx="9104328" cy="878100"/>
          </a:xfrm>
          <a:prstGeom prst="rect">
            <a:avLst/>
          </a:prstGeom>
        </p:spPr>
        <p:txBody>
          <a:bodyPr anchor="t" rtlCol="false" tIns="0" lIns="0" bIns="0" rIns="0">
            <a:spAutoFit/>
          </a:bodyPr>
          <a:lstStyle/>
          <a:p>
            <a:pPr algn="ctr">
              <a:lnSpc>
                <a:spcPts val="6480"/>
              </a:lnSpc>
            </a:pPr>
            <a:r>
              <a:rPr lang="en-US" b="true" sz="5400">
                <a:solidFill>
                  <a:srgbClr val="00695C"/>
                </a:solidFill>
                <a:latin typeface="Century Gothic Paneuropean Bold"/>
                <a:ea typeface="Century Gothic Paneuropean Bold"/>
                <a:cs typeface="Century Gothic Paneuropean Bold"/>
                <a:sym typeface="Century Gothic Paneuropean Bold"/>
              </a:rPr>
              <a:t>DATA DESCRIPTION</a:t>
            </a:r>
          </a:p>
        </p:txBody>
      </p:sp>
      <p:sp>
        <p:nvSpPr>
          <p:cNvPr name="TextBox 3" id="3"/>
          <p:cNvSpPr txBox="true"/>
          <p:nvPr/>
        </p:nvSpPr>
        <p:spPr>
          <a:xfrm rot="0">
            <a:off x="1735465" y="1656740"/>
            <a:ext cx="14817004" cy="667826"/>
          </a:xfrm>
          <a:prstGeom prst="rect">
            <a:avLst/>
          </a:prstGeom>
        </p:spPr>
        <p:txBody>
          <a:bodyPr anchor="t" rtlCol="false" tIns="0" lIns="0" bIns="0" rIns="0">
            <a:spAutoFit/>
          </a:bodyPr>
          <a:lstStyle/>
          <a:p>
            <a:pPr algn="l">
              <a:lnSpc>
                <a:spcPts val="4320"/>
              </a:lnSpc>
            </a:pPr>
            <a:r>
              <a:rPr lang="en-US" sz="3600">
                <a:solidFill>
                  <a:srgbClr val="000000"/>
                </a:solidFill>
                <a:latin typeface="Calibri (MS)"/>
                <a:ea typeface="Calibri (MS)"/>
                <a:cs typeface="Calibri (MS)"/>
                <a:sym typeface="Calibri (MS)"/>
              </a:rPr>
              <a:t>The dataset contains information 7 tables. Below is an overview of the dataset:</a:t>
            </a:r>
          </a:p>
        </p:txBody>
      </p:sp>
      <p:sp>
        <p:nvSpPr>
          <p:cNvPr name="TextBox 4" id="4"/>
          <p:cNvSpPr txBox="true"/>
          <p:nvPr/>
        </p:nvSpPr>
        <p:spPr>
          <a:xfrm rot="0">
            <a:off x="745303" y="2863748"/>
            <a:ext cx="7755846" cy="6579327"/>
          </a:xfrm>
          <a:prstGeom prst="rect">
            <a:avLst/>
          </a:prstGeom>
        </p:spPr>
        <p:txBody>
          <a:bodyPr anchor="t" rtlCol="false" tIns="0" lIns="0" bIns="0" rIns="0">
            <a:spAutoFit/>
          </a:bodyPr>
          <a:lstStyle/>
          <a:p>
            <a:pPr algn="l">
              <a:lnSpc>
                <a:spcPts val="3240"/>
              </a:lnSpc>
            </a:pPr>
            <a:r>
              <a:rPr lang="en-US" b="true" sz="3000">
                <a:solidFill>
                  <a:srgbClr val="000000"/>
                </a:solidFill>
                <a:latin typeface="Calibri (MS) Bold"/>
                <a:ea typeface="Calibri (MS) Bold"/>
                <a:cs typeface="Calibri (MS) Bold"/>
                <a:sym typeface="Calibri (MS) Bold"/>
              </a:rPr>
              <a:t>Users Table : </a:t>
            </a:r>
            <a:r>
              <a:rPr lang="en-US" sz="3000">
                <a:solidFill>
                  <a:srgbClr val="000000"/>
                </a:solidFill>
                <a:latin typeface="Calibri (MS)"/>
                <a:ea typeface="Calibri (MS)"/>
                <a:cs typeface="Calibri (MS)"/>
                <a:sym typeface="Calibri (MS)"/>
              </a:rPr>
              <a:t>information about users registered on the platform</a:t>
            </a:r>
          </a:p>
          <a:p>
            <a:pPr algn="l">
              <a:lnSpc>
                <a:spcPts val="3240"/>
              </a:lnSpc>
            </a:pPr>
            <a:r>
              <a:rPr lang="en-US" b="true" sz="3000">
                <a:solidFill>
                  <a:srgbClr val="000000"/>
                </a:solidFill>
                <a:latin typeface="Calibri (MS) Bold"/>
                <a:ea typeface="Calibri (MS) Bold"/>
                <a:cs typeface="Calibri (MS) Bold"/>
                <a:sym typeface="Calibri (MS) Bold"/>
              </a:rPr>
              <a:t>Photos Table: </a:t>
            </a:r>
            <a:r>
              <a:rPr lang="en-US" sz="3000">
                <a:solidFill>
                  <a:srgbClr val="000000"/>
                </a:solidFill>
                <a:latin typeface="Calibri (MS)"/>
                <a:ea typeface="Calibri (MS)"/>
                <a:cs typeface="Calibri (MS)"/>
                <a:sym typeface="Calibri (MS)"/>
              </a:rPr>
              <a:t>information about the photos uploaded by users.</a:t>
            </a:r>
          </a:p>
          <a:p>
            <a:pPr algn="l">
              <a:lnSpc>
                <a:spcPts val="3240"/>
              </a:lnSpc>
            </a:pPr>
            <a:r>
              <a:rPr lang="en-US" b="true" sz="3000">
                <a:solidFill>
                  <a:srgbClr val="000000"/>
                </a:solidFill>
                <a:latin typeface="Calibri (MS) Bold"/>
                <a:ea typeface="Calibri (MS) Bold"/>
                <a:cs typeface="Calibri (MS) Bold"/>
                <a:sym typeface="Calibri (MS) Bold"/>
              </a:rPr>
              <a:t>Comments Table: </a:t>
            </a:r>
            <a:r>
              <a:rPr lang="en-US" sz="3000">
                <a:solidFill>
                  <a:srgbClr val="000000"/>
                </a:solidFill>
                <a:latin typeface="Calibri (MS)"/>
                <a:ea typeface="Calibri (MS)"/>
                <a:cs typeface="Calibri (MS)"/>
                <a:sym typeface="Calibri (MS)"/>
              </a:rPr>
              <a:t>Stores all comments made by users on photos.</a:t>
            </a:r>
          </a:p>
          <a:p>
            <a:pPr algn="l">
              <a:lnSpc>
                <a:spcPts val="3240"/>
              </a:lnSpc>
            </a:pPr>
            <a:r>
              <a:rPr lang="en-US" b="true" sz="3000">
                <a:solidFill>
                  <a:srgbClr val="000000"/>
                </a:solidFill>
                <a:latin typeface="Calibri (MS) Bold"/>
                <a:ea typeface="Calibri (MS) Bold"/>
                <a:cs typeface="Calibri (MS) Bold"/>
                <a:sym typeface="Calibri (MS) Bold"/>
              </a:rPr>
              <a:t>Likes Table: </a:t>
            </a:r>
            <a:r>
              <a:rPr lang="en-US" sz="3000">
                <a:solidFill>
                  <a:srgbClr val="000000"/>
                </a:solidFill>
                <a:latin typeface="Calibri (MS)"/>
                <a:ea typeface="Calibri (MS)"/>
                <a:cs typeface="Calibri (MS)"/>
                <a:sym typeface="Calibri (MS)"/>
              </a:rPr>
              <a:t>Tracks which users liked which photos.</a:t>
            </a:r>
          </a:p>
          <a:p>
            <a:pPr algn="l">
              <a:lnSpc>
                <a:spcPts val="3240"/>
              </a:lnSpc>
            </a:pPr>
            <a:r>
              <a:rPr lang="en-US" b="true" sz="3000">
                <a:solidFill>
                  <a:srgbClr val="000000"/>
                </a:solidFill>
                <a:latin typeface="Calibri (MS) Bold"/>
                <a:ea typeface="Calibri (MS) Bold"/>
                <a:cs typeface="Calibri (MS) Bold"/>
                <a:sym typeface="Calibri (MS) Bold"/>
              </a:rPr>
              <a:t>Follows Table: </a:t>
            </a:r>
            <a:r>
              <a:rPr lang="en-US" sz="3000">
                <a:solidFill>
                  <a:srgbClr val="000000"/>
                </a:solidFill>
                <a:latin typeface="Calibri (MS)"/>
                <a:ea typeface="Calibri (MS)"/>
                <a:cs typeface="Calibri (MS)"/>
                <a:sym typeface="Calibri (MS)"/>
              </a:rPr>
              <a:t>Tracks user relationships (followers and followees).</a:t>
            </a:r>
          </a:p>
          <a:p>
            <a:pPr algn="l">
              <a:lnSpc>
                <a:spcPts val="3240"/>
              </a:lnSpc>
            </a:pPr>
            <a:r>
              <a:rPr lang="en-US" b="true" sz="3000">
                <a:solidFill>
                  <a:srgbClr val="000000"/>
                </a:solidFill>
                <a:latin typeface="Calibri (MS) Bold"/>
                <a:ea typeface="Calibri (MS) Bold"/>
                <a:cs typeface="Calibri (MS) Bold"/>
                <a:sym typeface="Calibri (MS) Bold"/>
              </a:rPr>
              <a:t>Tags Table: </a:t>
            </a:r>
            <a:r>
              <a:rPr lang="en-US" sz="3000">
                <a:solidFill>
                  <a:srgbClr val="000000"/>
                </a:solidFill>
                <a:latin typeface="Calibri (MS)"/>
                <a:ea typeface="Calibri (MS)"/>
                <a:cs typeface="Calibri (MS)"/>
                <a:sym typeface="Calibri (MS)"/>
              </a:rPr>
              <a:t>Stores unique tags that are associated with photos.</a:t>
            </a:r>
          </a:p>
          <a:p>
            <a:pPr algn="l">
              <a:lnSpc>
                <a:spcPts val="3240"/>
              </a:lnSpc>
            </a:pPr>
            <a:r>
              <a:rPr lang="en-US" b="true" sz="3000">
                <a:solidFill>
                  <a:srgbClr val="000000"/>
                </a:solidFill>
                <a:latin typeface="Calibri (MS) Bold"/>
                <a:ea typeface="Calibri (MS) Bold"/>
                <a:cs typeface="Calibri (MS) Bold"/>
                <a:sym typeface="Calibri (MS) Bold"/>
              </a:rPr>
              <a:t>Photo_Tags Table: </a:t>
            </a:r>
            <a:r>
              <a:rPr lang="en-US" sz="3000">
                <a:solidFill>
                  <a:srgbClr val="000000"/>
                </a:solidFill>
                <a:latin typeface="Calibri (MS)"/>
                <a:ea typeface="Calibri (MS)"/>
                <a:cs typeface="Calibri (MS)"/>
                <a:sym typeface="Calibri (MS)"/>
              </a:rPr>
              <a:t>connects photos with tags.</a:t>
            </a:r>
          </a:p>
          <a:p>
            <a:pPr algn="l">
              <a:lnSpc>
                <a:spcPts val="3078"/>
              </a:lnSpc>
            </a:pPr>
          </a:p>
          <a:p>
            <a:pPr algn="l">
              <a:lnSpc>
                <a:spcPts val="3539"/>
              </a:lnSpc>
            </a:pPr>
          </a:p>
        </p:txBody>
      </p:sp>
      <p:sp>
        <p:nvSpPr>
          <p:cNvPr name="TextBox 5" id="5"/>
          <p:cNvSpPr txBox="true"/>
          <p:nvPr/>
        </p:nvSpPr>
        <p:spPr>
          <a:xfrm rot="0">
            <a:off x="9786699" y="2797073"/>
            <a:ext cx="7755846" cy="6646002"/>
          </a:xfrm>
          <a:prstGeom prst="rect">
            <a:avLst/>
          </a:prstGeom>
        </p:spPr>
        <p:txBody>
          <a:bodyPr anchor="t" rtlCol="false" tIns="0" lIns="0" bIns="0" rIns="0">
            <a:spAutoFit/>
          </a:bodyPr>
          <a:lstStyle/>
          <a:p>
            <a:pPr algn="l" marL="692277" indent="-346138" lvl="1">
              <a:lnSpc>
                <a:spcPts val="3477"/>
              </a:lnSpc>
              <a:buFont typeface="Arial"/>
              <a:buChar char="•"/>
            </a:pPr>
            <a:r>
              <a:rPr lang="en-US" sz="2519">
                <a:solidFill>
                  <a:srgbClr val="000000"/>
                </a:solidFill>
                <a:latin typeface="Calibri (MS)"/>
                <a:ea typeface="Calibri (MS)"/>
                <a:cs typeface="Calibri (MS)"/>
                <a:sym typeface="Calibri (MS)"/>
              </a:rPr>
              <a:t>comments_id : unique identifier for each comment</a:t>
            </a:r>
          </a:p>
          <a:p>
            <a:pPr algn="l" marL="692277" indent="-346138" lvl="1">
              <a:lnSpc>
                <a:spcPts val="3477"/>
              </a:lnSpc>
              <a:buFont typeface="Arial"/>
              <a:buChar char="•"/>
            </a:pPr>
            <a:r>
              <a:rPr lang="en-US" sz="2519">
                <a:solidFill>
                  <a:srgbClr val="000000"/>
                </a:solidFill>
                <a:latin typeface="Calibri (MS)"/>
                <a:ea typeface="Calibri (MS)"/>
                <a:cs typeface="Calibri (MS)"/>
                <a:sym typeface="Calibri (MS)"/>
              </a:rPr>
              <a:t>comment_text : text content of a given comment</a:t>
            </a:r>
          </a:p>
          <a:p>
            <a:pPr algn="l" marL="692277" indent="-346138" lvl="1">
              <a:lnSpc>
                <a:spcPts val="3477"/>
              </a:lnSpc>
              <a:buFont typeface="Arial"/>
              <a:buChar char="•"/>
            </a:pPr>
            <a:r>
              <a:rPr lang="en-US" sz="2519">
                <a:solidFill>
                  <a:srgbClr val="000000"/>
                </a:solidFill>
                <a:latin typeface="Calibri (MS)"/>
                <a:ea typeface="Calibri (MS)"/>
                <a:cs typeface="Calibri (MS)"/>
                <a:sym typeface="Calibri (MS)"/>
              </a:rPr>
              <a:t>user_id : unique identifier for each user</a:t>
            </a:r>
          </a:p>
          <a:p>
            <a:pPr algn="l" marL="692277" indent="-346138" lvl="1">
              <a:lnSpc>
                <a:spcPts val="3477"/>
              </a:lnSpc>
              <a:buFont typeface="Arial"/>
              <a:buChar char="•"/>
            </a:pPr>
            <a:r>
              <a:rPr lang="en-US" sz="2519">
                <a:solidFill>
                  <a:srgbClr val="000000"/>
                </a:solidFill>
                <a:latin typeface="Calibri (MS)"/>
                <a:ea typeface="Calibri (MS)"/>
                <a:cs typeface="Calibri (MS)"/>
                <a:sym typeface="Calibri (MS)"/>
              </a:rPr>
              <a:t>photo_id : unique identifier for each photo</a:t>
            </a:r>
          </a:p>
          <a:p>
            <a:pPr algn="l" marL="692277" indent="-346138" lvl="1">
              <a:lnSpc>
                <a:spcPts val="3477"/>
              </a:lnSpc>
              <a:buFont typeface="Arial"/>
              <a:buChar char="•"/>
            </a:pPr>
            <a:r>
              <a:rPr lang="en-US" sz="2519">
                <a:solidFill>
                  <a:srgbClr val="000000"/>
                </a:solidFill>
                <a:latin typeface="Calibri (MS)"/>
                <a:ea typeface="Calibri (MS)"/>
                <a:cs typeface="Calibri (MS)"/>
                <a:sym typeface="Calibri (MS)"/>
              </a:rPr>
              <a:t>created_at : date of interaction in the form like, photos, tags</a:t>
            </a:r>
          </a:p>
          <a:p>
            <a:pPr algn="l" marL="692277" indent="-346138" lvl="1">
              <a:lnSpc>
                <a:spcPts val="3477"/>
              </a:lnSpc>
              <a:buFont typeface="Arial"/>
              <a:buChar char="•"/>
            </a:pPr>
            <a:r>
              <a:rPr lang="en-US" sz="2519">
                <a:solidFill>
                  <a:srgbClr val="000000"/>
                </a:solidFill>
                <a:latin typeface="Calibri (MS)"/>
                <a:ea typeface="Calibri (MS)"/>
                <a:cs typeface="Calibri (MS)"/>
                <a:sym typeface="Calibri (MS)"/>
              </a:rPr>
              <a:t>follower_id : user_id of the follower for a certain user</a:t>
            </a:r>
          </a:p>
          <a:p>
            <a:pPr algn="l" marL="692277" indent="-346138" lvl="1">
              <a:lnSpc>
                <a:spcPts val="3477"/>
              </a:lnSpc>
              <a:buFont typeface="Arial"/>
              <a:buChar char="•"/>
            </a:pPr>
            <a:r>
              <a:rPr lang="en-US" sz="2519">
                <a:solidFill>
                  <a:srgbClr val="000000"/>
                </a:solidFill>
                <a:latin typeface="Calibri (MS)"/>
                <a:ea typeface="Calibri (MS)"/>
                <a:cs typeface="Calibri (MS)"/>
                <a:sym typeface="Calibri (MS)"/>
              </a:rPr>
              <a:t>followee_id : user_id of followee for a certain user</a:t>
            </a:r>
          </a:p>
          <a:p>
            <a:pPr algn="l" marL="692277" indent="-346138" lvl="1">
              <a:lnSpc>
                <a:spcPts val="3477"/>
              </a:lnSpc>
              <a:buFont typeface="Arial"/>
              <a:buChar char="•"/>
            </a:pPr>
            <a:r>
              <a:rPr lang="en-US" sz="2519">
                <a:solidFill>
                  <a:srgbClr val="000000"/>
                </a:solidFill>
                <a:latin typeface="Calibri (MS)"/>
                <a:ea typeface="Calibri (MS)"/>
                <a:cs typeface="Calibri (MS)"/>
                <a:sym typeface="Calibri (MS)"/>
              </a:rPr>
              <a:t>tag_id : unique identifier for each tag</a:t>
            </a:r>
          </a:p>
          <a:p>
            <a:pPr algn="l" marL="692277" indent="-346138" lvl="1">
              <a:lnSpc>
                <a:spcPts val="3477"/>
              </a:lnSpc>
              <a:buFont typeface="Arial"/>
              <a:buChar char="•"/>
            </a:pPr>
            <a:r>
              <a:rPr lang="en-US" sz="2519">
                <a:solidFill>
                  <a:srgbClr val="000000"/>
                </a:solidFill>
                <a:latin typeface="Calibri (MS)"/>
                <a:ea typeface="Calibri (MS)"/>
                <a:cs typeface="Calibri (MS)"/>
                <a:sym typeface="Calibri (MS)"/>
              </a:rPr>
              <a:t>image_url : link to the image posted on the platform</a:t>
            </a:r>
          </a:p>
          <a:p>
            <a:pPr algn="l" marL="692277" indent="-346138" lvl="1">
              <a:lnSpc>
                <a:spcPts val="3477"/>
              </a:lnSpc>
              <a:buFont typeface="Arial"/>
              <a:buChar char="•"/>
            </a:pPr>
            <a:r>
              <a:rPr lang="en-US" sz="2519">
                <a:solidFill>
                  <a:srgbClr val="000000"/>
                </a:solidFill>
                <a:latin typeface="Calibri (MS)"/>
                <a:ea typeface="Calibri (MS)"/>
                <a:cs typeface="Calibri (MS)"/>
                <a:sym typeface="Calibri (MS)"/>
              </a:rPr>
              <a:t>username : username chosen by the user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106776" y="967829"/>
            <a:ext cx="10697382" cy="8290471"/>
          </a:xfrm>
          <a:custGeom>
            <a:avLst/>
            <a:gdLst/>
            <a:ahLst/>
            <a:cxnLst/>
            <a:rect r="r" b="b" t="t" l="l"/>
            <a:pathLst>
              <a:path h="8290471" w="10697382">
                <a:moveTo>
                  <a:pt x="0" y="0"/>
                </a:moveTo>
                <a:lnTo>
                  <a:pt x="10697382" y="0"/>
                </a:lnTo>
                <a:lnTo>
                  <a:pt x="10697382" y="8290471"/>
                </a:lnTo>
                <a:lnTo>
                  <a:pt x="0" y="8290471"/>
                </a:lnTo>
                <a:lnTo>
                  <a:pt x="0" y="0"/>
                </a:lnTo>
                <a:close/>
              </a:path>
            </a:pathLst>
          </a:custGeom>
          <a:blipFill>
            <a:blip r:embed="rId2"/>
            <a:stretch>
              <a:fillRect l="0" t="0" r="0" b="0"/>
            </a:stretch>
          </a:blipFill>
        </p:spPr>
      </p:sp>
      <p:sp>
        <p:nvSpPr>
          <p:cNvPr name="TextBox 3" id="3"/>
          <p:cNvSpPr txBox="true"/>
          <p:nvPr/>
        </p:nvSpPr>
        <p:spPr>
          <a:xfrm rot="0">
            <a:off x="2118478" y="4324373"/>
            <a:ext cx="3501483" cy="1638253"/>
          </a:xfrm>
          <a:prstGeom prst="rect">
            <a:avLst/>
          </a:prstGeom>
        </p:spPr>
        <p:txBody>
          <a:bodyPr anchor="t" rtlCol="false" tIns="0" lIns="0" bIns="0" rIns="0">
            <a:spAutoFit/>
          </a:bodyPr>
          <a:lstStyle/>
          <a:p>
            <a:pPr algn="ctr">
              <a:lnSpc>
                <a:spcPts val="6480"/>
              </a:lnSpc>
            </a:pPr>
            <a:r>
              <a:rPr lang="en-US" b="true" sz="5400">
                <a:solidFill>
                  <a:srgbClr val="00695C"/>
                </a:solidFill>
                <a:latin typeface="Century Gothic Paneuropean Bold"/>
                <a:ea typeface="Century Gothic Paneuropean Bold"/>
                <a:cs typeface="Century Gothic Paneuropean Bold"/>
                <a:sym typeface="Century Gothic Paneuropean Bold"/>
              </a:rPr>
              <a:t>DATABASE </a:t>
            </a:r>
          </a:p>
          <a:p>
            <a:pPr algn="ctr">
              <a:lnSpc>
                <a:spcPts val="6480"/>
              </a:lnSpc>
            </a:pPr>
            <a:r>
              <a:rPr lang="en-US" b="true" sz="5400">
                <a:solidFill>
                  <a:srgbClr val="00695C"/>
                </a:solidFill>
                <a:latin typeface="Century Gothic Paneuropean Bold"/>
                <a:ea typeface="Century Gothic Paneuropean Bold"/>
                <a:cs typeface="Century Gothic Paneuropean Bold"/>
                <a:sym typeface="Century Gothic Paneuropean Bold"/>
              </a:rPr>
              <a:t>SCHEMA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0780" y="440284"/>
            <a:ext cx="17215799" cy="878100"/>
          </a:xfrm>
          <a:prstGeom prst="rect">
            <a:avLst/>
          </a:prstGeom>
        </p:spPr>
        <p:txBody>
          <a:bodyPr anchor="t" rtlCol="false" tIns="0" lIns="0" bIns="0" rIns="0">
            <a:spAutoFit/>
          </a:bodyPr>
          <a:lstStyle/>
          <a:p>
            <a:pPr algn="ctr">
              <a:lnSpc>
                <a:spcPts val="6480"/>
              </a:lnSpc>
            </a:pPr>
            <a:r>
              <a:rPr lang="en-US" b="true" sz="5400">
                <a:solidFill>
                  <a:srgbClr val="00695C"/>
                </a:solidFill>
                <a:latin typeface="Century Gothic Paneuropean Bold"/>
                <a:ea typeface="Century Gothic Paneuropean Bold"/>
                <a:cs typeface="Century Gothic Paneuropean Bold"/>
                <a:sym typeface="Century Gothic Paneuropean Bold"/>
              </a:rPr>
              <a:t>KEY METRICS AND VISUALIZATION</a:t>
            </a:r>
          </a:p>
        </p:txBody>
      </p:sp>
      <p:sp>
        <p:nvSpPr>
          <p:cNvPr name="TextBox 3" id="3"/>
          <p:cNvSpPr txBox="true"/>
          <p:nvPr/>
        </p:nvSpPr>
        <p:spPr>
          <a:xfrm rot="0">
            <a:off x="2121266" y="3766495"/>
            <a:ext cx="3200743" cy="1037101"/>
          </a:xfrm>
          <a:prstGeom prst="rect">
            <a:avLst/>
          </a:prstGeom>
        </p:spPr>
        <p:txBody>
          <a:bodyPr anchor="t" rtlCol="false" tIns="0" lIns="0" bIns="0" rIns="0">
            <a:spAutoFit/>
          </a:bodyPr>
          <a:lstStyle/>
          <a:p>
            <a:pPr algn="ctr">
              <a:lnSpc>
                <a:spcPts val="3600"/>
              </a:lnSpc>
            </a:pPr>
            <a:r>
              <a:rPr lang="en-US" b="true" sz="3000">
                <a:solidFill>
                  <a:srgbClr val="171616"/>
                </a:solidFill>
                <a:latin typeface="Calibri (MS) Bold"/>
                <a:ea typeface="Calibri (MS) Bold"/>
                <a:cs typeface="Calibri (MS) Bold"/>
                <a:sym typeface="Calibri (MS) Bold"/>
              </a:rPr>
              <a:t>Inactive Users: </a:t>
            </a:r>
            <a:r>
              <a:rPr lang="en-US" sz="3000">
                <a:solidFill>
                  <a:srgbClr val="171616"/>
                </a:solidFill>
                <a:latin typeface="Calibri (MS)"/>
                <a:ea typeface="Calibri (MS)"/>
                <a:cs typeface="Calibri (MS)"/>
                <a:sym typeface="Calibri (MS)"/>
              </a:rPr>
              <a:t>26         </a:t>
            </a:r>
          </a:p>
          <a:p>
            <a:pPr algn="ctr">
              <a:lnSpc>
                <a:spcPts val="3600"/>
              </a:lnSpc>
            </a:pPr>
            <a:r>
              <a:rPr lang="en-US" b="true" sz="3000">
                <a:solidFill>
                  <a:srgbClr val="171616"/>
                </a:solidFill>
                <a:latin typeface="Calibri (MS) Bold"/>
                <a:ea typeface="Calibri (MS) Bold"/>
                <a:cs typeface="Calibri (MS) Bold"/>
                <a:sym typeface="Calibri (MS) Bold"/>
              </a:rPr>
              <a:t>Active Users: </a:t>
            </a:r>
            <a:r>
              <a:rPr lang="en-US" sz="3000">
                <a:solidFill>
                  <a:srgbClr val="171616"/>
                </a:solidFill>
                <a:latin typeface="Calibri (MS)"/>
                <a:ea typeface="Calibri (MS)"/>
                <a:cs typeface="Calibri (MS)"/>
                <a:sym typeface="Calibri (MS)"/>
              </a:rPr>
              <a:t>74 </a:t>
            </a:r>
          </a:p>
        </p:txBody>
      </p:sp>
      <p:sp>
        <p:nvSpPr>
          <p:cNvPr name="TextBox 4" id="4"/>
          <p:cNvSpPr txBox="true"/>
          <p:nvPr/>
        </p:nvSpPr>
        <p:spPr>
          <a:xfrm rot="0">
            <a:off x="6769679" y="1232659"/>
            <a:ext cx="2368519" cy="809648"/>
          </a:xfrm>
          <a:prstGeom prst="rect">
            <a:avLst/>
          </a:prstGeom>
        </p:spPr>
        <p:txBody>
          <a:bodyPr anchor="t" rtlCol="false" tIns="0" lIns="0" bIns="0" rIns="0">
            <a:spAutoFit/>
          </a:bodyPr>
          <a:lstStyle/>
          <a:p>
            <a:pPr algn="l">
              <a:lnSpc>
                <a:spcPts val="5759"/>
              </a:lnSpc>
            </a:pPr>
            <a:r>
              <a:rPr lang="en-US" b="true" sz="4800" u="sng">
                <a:solidFill>
                  <a:srgbClr val="171616"/>
                </a:solidFill>
                <a:latin typeface="Calibri (MS) Bold"/>
                <a:ea typeface="Calibri (MS) Bold"/>
                <a:cs typeface="Calibri (MS) Bold"/>
                <a:sym typeface="Calibri (MS) Bold"/>
              </a:rPr>
              <a:t>1. USERS </a:t>
            </a:r>
          </a:p>
        </p:txBody>
      </p:sp>
      <p:grpSp>
        <p:nvGrpSpPr>
          <p:cNvPr name="Group 5" id="5"/>
          <p:cNvGrpSpPr/>
          <p:nvPr/>
        </p:nvGrpSpPr>
        <p:grpSpPr>
          <a:xfrm rot="0">
            <a:off x="2721288" y="6218520"/>
            <a:ext cx="4224404" cy="3303460"/>
            <a:chOff x="0" y="0"/>
            <a:chExt cx="5632539" cy="4404614"/>
          </a:xfrm>
        </p:grpSpPr>
        <p:sp>
          <p:nvSpPr>
            <p:cNvPr name="Freeform 6" id="6"/>
            <p:cNvSpPr/>
            <p:nvPr/>
          </p:nvSpPr>
          <p:spPr>
            <a:xfrm flipH="false" flipV="false" rot="0">
              <a:off x="0" y="0"/>
              <a:ext cx="5632577" cy="4404614"/>
            </a:xfrm>
            <a:custGeom>
              <a:avLst/>
              <a:gdLst/>
              <a:ahLst/>
              <a:cxnLst/>
              <a:rect r="r" b="b" t="t" l="l"/>
              <a:pathLst>
                <a:path h="4404614" w="5632577">
                  <a:moveTo>
                    <a:pt x="0" y="0"/>
                  </a:moveTo>
                  <a:lnTo>
                    <a:pt x="5632577" y="0"/>
                  </a:lnTo>
                  <a:lnTo>
                    <a:pt x="5632577" y="4404614"/>
                  </a:lnTo>
                  <a:lnTo>
                    <a:pt x="0" y="4404614"/>
                  </a:lnTo>
                  <a:lnTo>
                    <a:pt x="0" y="0"/>
                  </a:lnTo>
                  <a:close/>
                </a:path>
              </a:pathLst>
            </a:custGeom>
            <a:blipFill>
              <a:blip r:embed="rId2"/>
              <a:stretch>
                <a:fillRect l="0" t="0" r="-41" b="0"/>
              </a:stretch>
            </a:blipFill>
          </p:spPr>
        </p:sp>
      </p:grpSp>
      <p:sp>
        <p:nvSpPr>
          <p:cNvPr name="TextBox 7" id="7"/>
          <p:cNvSpPr txBox="true"/>
          <p:nvPr/>
        </p:nvSpPr>
        <p:spPr>
          <a:xfrm rot="0">
            <a:off x="13002028" y="2456521"/>
            <a:ext cx="3491970" cy="667769"/>
          </a:xfrm>
          <a:prstGeom prst="rect">
            <a:avLst/>
          </a:prstGeom>
        </p:spPr>
        <p:txBody>
          <a:bodyPr anchor="t" rtlCol="false" tIns="0" lIns="0" bIns="0" rIns="0">
            <a:spAutoFit/>
          </a:bodyPr>
          <a:lstStyle/>
          <a:p>
            <a:pPr algn="ctr">
              <a:lnSpc>
                <a:spcPts val="4320"/>
              </a:lnSpc>
            </a:pPr>
            <a:r>
              <a:rPr lang="en-US" b="true" sz="3600">
                <a:solidFill>
                  <a:srgbClr val="00695C"/>
                </a:solidFill>
                <a:latin typeface="Calibri (MS) Bold"/>
                <a:ea typeface="Calibri (MS) Bold"/>
                <a:cs typeface="Calibri (MS) Bold"/>
                <a:sym typeface="Calibri (MS) Bold"/>
              </a:rPr>
              <a:t>Joining Year Wise</a:t>
            </a:r>
          </a:p>
        </p:txBody>
      </p:sp>
      <p:sp>
        <p:nvSpPr>
          <p:cNvPr name="TextBox 8" id="8"/>
          <p:cNvSpPr txBox="true"/>
          <p:nvPr/>
        </p:nvSpPr>
        <p:spPr>
          <a:xfrm rot="0">
            <a:off x="1303330" y="2622137"/>
            <a:ext cx="2835916" cy="667769"/>
          </a:xfrm>
          <a:prstGeom prst="rect">
            <a:avLst/>
          </a:prstGeom>
        </p:spPr>
        <p:txBody>
          <a:bodyPr anchor="t" rtlCol="false" tIns="0" lIns="0" bIns="0" rIns="0">
            <a:spAutoFit/>
          </a:bodyPr>
          <a:lstStyle/>
          <a:p>
            <a:pPr algn="ctr">
              <a:lnSpc>
                <a:spcPts val="4320"/>
              </a:lnSpc>
            </a:pPr>
            <a:r>
              <a:rPr lang="en-US" b="true" sz="3600">
                <a:solidFill>
                  <a:srgbClr val="00695C"/>
                </a:solidFill>
                <a:latin typeface="Calibri (MS) Bold"/>
                <a:ea typeface="Calibri (MS) Bold"/>
                <a:cs typeface="Calibri (MS) Bold"/>
                <a:sym typeface="Calibri (MS) Bold"/>
              </a:rPr>
              <a:t>Activity Wise</a:t>
            </a:r>
          </a:p>
        </p:txBody>
      </p:sp>
      <p:grpSp>
        <p:nvGrpSpPr>
          <p:cNvPr name="Group 9" id="9"/>
          <p:cNvGrpSpPr/>
          <p:nvPr/>
        </p:nvGrpSpPr>
        <p:grpSpPr>
          <a:xfrm rot="0">
            <a:off x="11374543" y="6247095"/>
            <a:ext cx="4224404" cy="3303460"/>
            <a:chOff x="0" y="0"/>
            <a:chExt cx="5632539" cy="4404614"/>
          </a:xfrm>
        </p:grpSpPr>
        <p:sp>
          <p:nvSpPr>
            <p:cNvPr name="Freeform 10" id="10"/>
            <p:cNvSpPr/>
            <p:nvPr/>
          </p:nvSpPr>
          <p:spPr>
            <a:xfrm flipH="false" flipV="false" rot="0">
              <a:off x="0" y="0"/>
              <a:ext cx="5632577" cy="4404614"/>
            </a:xfrm>
            <a:custGeom>
              <a:avLst/>
              <a:gdLst/>
              <a:ahLst/>
              <a:cxnLst/>
              <a:rect r="r" b="b" t="t" l="l"/>
              <a:pathLst>
                <a:path h="4404614" w="5632577">
                  <a:moveTo>
                    <a:pt x="0" y="0"/>
                  </a:moveTo>
                  <a:lnTo>
                    <a:pt x="5632577" y="0"/>
                  </a:lnTo>
                  <a:lnTo>
                    <a:pt x="5632577" y="4404614"/>
                  </a:lnTo>
                  <a:lnTo>
                    <a:pt x="0" y="4404614"/>
                  </a:lnTo>
                  <a:lnTo>
                    <a:pt x="0" y="0"/>
                  </a:lnTo>
                  <a:close/>
                </a:path>
              </a:pathLst>
            </a:custGeom>
            <a:blipFill>
              <a:blip r:embed="rId3"/>
              <a:stretch>
                <a:fillRect l="0" t="0" r="-41" b="0"/>
              </a:stretch>
            </a:blipFill>
          </p:spPr>
        </p:sp>
      </p:grpSp>
      <p:sp>
        <p:nvSpPr>
          <p:cNvPr name="TextBox 11" id="11"/>
          <p:cNvSpPr txBox="true"/>
          <p:nvPr/>
        </p:nvSpPr>
        <p:spPr>
          <a:xfrm rot="0">
            <a:off x="13486745" y="3581067"/>
            <a:ext cx="2103149" cy="1037101"/>
          </a:xfrm>
          <a:prstGeom prst="rect">
            <a:avLst/>
          </a:prstGeom>
        </p:spPr>
        <p:txBody>
          <a:bodyPr anchor="t" rtlCol="false" tIns="0" lIns="0" bIns="0" rIns="0">
            <a:spAutoFit/>
          </a:bodyPr>
          <a:lstStyle/>
          <a:p>
            <a:pPr algn="ctr">
              <a:lnSpc>
                <a:spcPts val="3600"/>
              </a:lnSpc>
            </a:pPr>
            <a:r>
              <a:rPr lang="en-US" b="true" sz="3000">
                <a:solidFill>
                  <a:srgbClr val="171616"/>
                </a:solidFill>
                <a:latin typeface="Calibri (MS) Bold"/>
                <a:ea typeface="Calibri (MS) Bold"/>
                <a:cs typeface="Calibri (MS) Bold"/>
                <a:sym typeface="Calibri (MS) Bold"/>
              </a:rPr>
              <a:t>2016: </a:t>
            </a:r>
            <a:r>
              <a:rPr lang="en-US" sz="3000">
                <a:solidFill>
                  <a:srgbClr val="171616"/>
                </a:solidFill>
                <a:latin typeface="Calibri (MS)"/>
                <a:ea typeface="Calibri (MS)"/>
                <a:cs typeface="Calibri (MS)"/>
                <a:sym typeface="Calibri (MS)"/>
              </a:rPr>
              <a:t>65         </a:t>
            </a:r>
          </a:p>
          <a:p>
            <a:pPr algn="ctr">
              <a:lnSpc>
                <a:spcPts val="3600"/>
              </a:lnSpc>
            </a:pPr>
            <a:r>
              <a:rPr lang="en-US" b="true" sz="3000">
                <a:solidFill>
                  <a:srgbClr val="171616"/>
                </a:solidFill>
                <a:latin typeface="Calibri (MS) Bold"/>
                <a:ea typeface="Calibri (MS) Bold"/>
                <a:cs typeface="Calibri (MS) Bold"/>
                <a:sym typeface="Calibri (MS) Bold"/>
              </a:rPr>
              <a:t>2017: </a:t>
            </a:r>
            <a:r>
              <a:rPr lang="en-US" sz="3000">
                <a:solidFill>
                  <a:srgbClr val="171616"/>
                </a:solidFill>
                <a:latin typeface="Calibri (MS)"/>
                <a:ea typeface="Calibri (MS)"/>
                <a:cs typeface="Calibri (MS)"/>
                <a:sym typeface="Calibri (MS)"/>
              </a:rPr>
              <a:t>35 </a:t>
            </a:r>
          </a:p>
        </p:txBody>
      </p:sp>
      <p:sp>
        <p:nvSpPr>
          <p:cNvPr name="TextBox 12" id="12"/>
          <p:cNvSpPr txBox="true"/>
          <p:nvPr/>
        </p:nvSpPr>
        <p:spPr>
          <a:xfrm rot="0">
            <a:off x="10308584" y="5074944"/>
            <a:ext cx="6950716" cy="1037101"/>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The drop in new users in 2017, the priority should be on </a:t>
            </a:r>
            <a:r>
              <a:rPr lang="en-US" b="true" sz="3000">
                <a:solidFill>
                  <a:srgbClr val="000000"/>
                </a:solidFill>
                <a:latin typeface="Calibri (MS) Bold"/>
                <a:ea typeface="Calibri (MS) Bold"/>
                <a:cs typeface="Calibri (MS) Bold"/>
                <a:sym typeface="Calibri (MS) Bold"/>
              </a:rPr>
              <a:t>boosting user acquisition</a:t>
            </a:r>
          </a:p>
        </p:txBody>
      </p:sp>
      <p:sp>
        <p:nvSpPr>
          <p:cNvPr name="TextBox 13" id="13"/>
          <p:cNvSpPr txBox="true"/>
          <p:nvPr/>
        </p:nvSpPr>
        <p:spPr>
          <a:xfrm rot="0">
            <a:off x="980780" y="5280184"/>
            <a:ext cx="7705420" cy="1037101"/>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The </a:t>
            </a:r>
            <a:r>
              <a:rPr lang="en-US" b="true" sz="3000">
                <a:solidFill>
                  <a:srgbClr val="000000"/>
                </a:solidFill>
                <a:latin typeface="Calibri (MS) Bold"/>
                <a:ea typeface="Calibri (MS) Bold"/>
                <a:cs typeface="Calibri (MS) Bold"/>
                <a:sym typeface="Calibri (MS) Bold"/>
              </a:rPr>
              <a:t>26 inactive users</a:t>
            </a:r>
            <a:r>
              <a:rPr lang="en-US" sz="3000">
                <a:solidFill>
                  <a:srgbClr val="000000"/>
                </a:solidFill>
                <a:latin typeface="Calibri (MS)"/>
                <a:ea typeface="Calibri (MS)"/>
                <a:cs typeface="Calibri (MS)"/>
                <a:sym typeface="Calibri (MS)"/>
              </a:rPr>
              <a:t> highlight a potential </a:t>
            </a:r>
            <a:r>
              <a:rPr lang="en-US" b="true" sz="3000">
                <a:solidFill>
                  <a:srgbClr val="000000"/>
                </a:solidFill>
                <a:latin typeface="Calibri (MS) Bold"/>
                <a:ea typeface="Calibri (MS) Bold"/>
                <a:cs typeface="Calibri (MS) Bold"/>
                <a:sym typeface="Calibri (MS) Bold"/>
              </a:rPr>
              <a:t>retention</a:t>
            </a:r>
            <a:r>
              <a:rPr lang="en-US" sz="3000">
                <a:solidFill>
                  <a:srgbClr val="000000"/>
                </a:solidFill>
                <a:latin typeface="Calibri (MS)"/>
                <a:ea typeface="Calibri (MS)"/>
                <a:cs typeface="Calibri (MS)"/>
                <a:sym typeface="Calibri (MS)"/>
              </a:rPr>
              <a:t> issue.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5140" y="5590432"/>
            <a:ext cx="16033318" cy="2859672"/>
            <a:chOff x="0" y="0"/>
            <a:chExt cx="21377758" cy="3812896"/>
          </a:xfrm>
        </p:grpSpPr>
        <p:sp>
          <p:nvSpPr>
            <p:cNvPr name="Freeform 3" id="3"/>
            <p:cNvSpPr/>
            <p:nvPr/>
          </p:nvSpPr>
          <p:spPr>
            <a:xfrm flipH="false" flipV="false" rot="0">
              <a:off x="0" y="0"/>
              <a:ext cx="21377783" cy="3812921"/>
            </a:xfrm>
            <a:custGeom>
              <a:avLst/>
              <a:gdLst/>
              <a:ahLst/>
              <a:cxnLst/>
              <a:rect r="r" b="b" t="t" l="l"/>
              <a:pathLst>
                <a:path h="3812921" w="21377783">
                  <a:moveTo>
                    <a:pt x="0" y="0"/>
                  </a:moveTo>
                  <a:lnTo>
                    <a:pt x="21377783" y="0"/>
                  </a:lnTo>
                  <a:lnTo>
                    <a:pt x="21377783" y="3812921"/>
                  </a:lnTo>
                  <a:lnTo>
                    <a:pt x="0" y="3812921"/>
                  </a:lnTo>
                  <a:lnTo>
                    <a:pt x="0" y="0"/>
                  </a:lnTo>
                  <a:close/>
                </a:path>
              </a:pathLst>
            </a:custGeom>
            <a:blipFill>
              <a:blip r:embed="rId2"/>
              <a:stretch>
                <a:fillRect l="0" t="0" r="-13" b="0"/>
              </a:stretch>
            </a:blipFill>
          </p:spPr>
        </p:sp>
      </p:grpSp>
      <p:sp>
        <p:nvSpPr>
          <p:cNvPr name="TextBox 4" id="4"/>
          <p:cNvSpPr txBox="true"/>
          <p:nvPr/>
        </p:nvSpPr>
        <p:spPr>
          <a:xfrm rot="0">
            <a:off x="4328650" y="1124512"/>
            <a:ext cx="11012944" cy="809648"/>
          </a:xfrm>
          <a:prstGeom prst="rect">
            <a:avLst/>
          </a:prstGeom>
        </p:spPr>
        <p:txBody>
          <a:bodyPr anchor="t" rtlCol="false" tIns="0" lIns="0" bIns="0" rIns="0">
            <a:spAutoFit/>
          </a:bodyPr>
          <a:lstStyle/>
          <a:p>
            <a:pPr algn="l">
              <a:lnSpc>
                <a:spcPts val="5759"/>
              </a:lnSpc>
            </a:pPr>
            <a:r>
              <a:rPr lang="en-US" b="true" sz="4800" u="sng">
                <a:solidFill>
                  <a:srgbClr val="262626"/>
                </a:solidFill>
                <a:latin typeface="Calibri (MS) Bold"/>
                <a:ea typeface="Calibri (MS) Bold"/>
                <a:cs typeface="Calibri (MS) Bold"/>
                <a:sym typeface="Calibri (MS) Bold"/>
              </a:rPr>
              <a:t>2. POSTS- NO. OF PHOTOS POSTED                </a:t>
            </a:r>
          </a:p>
        </p:txBody>
      </p:sp>
      <p:grpSp>
        <p:nvGrpSpPr>
          <p:cNvPr name="Group 5" id="5"/>
          <p:cNvGrpSpPr/>
          <p:nvPr/>
        </p:nvGrpSpPr>
        <p:grpSpPr>
          <a:xfrm rot="0">
            <a:off x="1045140" y="2464470"/>
            <a:ext cx="16197720" cy="1985162"/>
            <a:chOff x="0" y="0"/>
            <a:chExt cx="21596960" cy="2646883"/>
          </a:xfrm>
        </p:grpSpPr>
        <p:sp>
          <p:nvSpPr>
            <p:cNvPr name="Freeform 6" id="6"/>
            <p:cNvSpPr/>
            <p:nvPr/>
          </p:nvSpPr>
          <p:spPr>
            <a:xfrm flipH="false" flipV="false" rot="0">
              <a:off x="0" y="0"/>
              <a:ext cx="21596961" cy="2646878"/>
            </a:xfrm>
            <a:custGeom>
              <a:avLst/>
              <a:gdLst/>
              <a:ahLst/>
              <a:cxnLst/>
              <a:rect r="r" b="b" t="t" l="l"/>
              <a:pathLst>
                <a:path h="2646878" w="21596961">
                  <a:moveTo>
                    <a:pt x="0" y="0"/>
                  </a:moveTo>
                  <a:lnTo>
                    <a:pt x="21596961" y="0"/>
                  </a:lnTo>
                  <a:lnTo>
                    <a:pt x="21596961" y="2646878"/>
                  </a:lnTo>
                  <a:lnTo>
                    <a:pt x="0" y="2646878"/>
                  </a:lnTo>
                  <a:close/>
                </a:path>
              </a:pathLst>
            </a:custGeom>
            <a:blipFill>
              <a:blip r:embed="rId3">
                <a:alphaModFix amt="0"/>
              </a:blip>
              <a:stretch>
                <a:fillRect l="0" t="-108986" r="0" b="-108986"/>
              </a:stretch>
            </a:blipFill>
          </p:spPr>
        </p:sp>
        <p:sp>
          <p:nvSpPr>
            <p:cNvPr name="TextBox 7" id="7"/>
            <p:cNvSpPr txBox="true"/>
            <p:nvPr/>
          </p:nvSpPr>
          <p:spPr>
            <a:xfrm>
              <a:off x="0" y="-66675"/>
              <a:ext cx="21596960" cy="2713558"/>
            </a:xfrm>
            <a:prstGeom prst="rect">
              <a:avLst/>
            </a:prstGeom>
          </p:spPr>
          <p:txBody>
            <a:bodyPr anchor="ctr" rtlCol="false" tIns="0" lIns="0" bIns="0" rIns="0"/>
            <a:lstStyle/>
            <a:p>
              <a:pPr algn="l" marL="881062" indent="-293688" lvl="2">
                <a:lnSpc>
                  <a:spcPts val="3600"/>
                </a:lnSpc>
                <a:buFont typeface="Arial"/>
                <a:buChar char="⚬"/>
              </a:pPr>
              <a:r>
                <a:rPr lang="en-US" b="true" sz="3000">
                  <a:solidFill>
                    <a:srgbClr val="000000"/>
                  </a:solidFill>
                  <a:latin typeface="Calibri (MS) Bold"/>
                  <a:ea typeface="Calibri (MS) Bold"/>
                  <a:cs typeface="Calibri (MS) Bold"/>
                  <a:sym typeface="Calibri (MS) Bold"/>
                </a:rPr>
                <a:t>High Inactivity</a:t>
              </a:r>
              <a:r>
                <a:rPr lang="en-US" sz="3000">
                  <a:solidFill>
                    <a:srgbClr val="000000"/>
                  </a:solidFill>
                  <a:latin typeface="Calibri (MS)"/>
                  <a:ea typeface="Calibri (MS)"/>
                  <a:cs typeface="Calibri (MS)"/>
                  <a:sym typeface="Calibri (MS)"/>
                </a:rPr>
                <a:t>: 26 users have posted 0 photos, highlighting a large portion of inactive users</a:t>
              </a:r>
            </a:p>
            <a:p>
              <a:pPr algn="l" marL="881062" indent="-440531" lvl="1">
                <a:lnSpc>
                  <a:spcPts val="3600"/>
                </a:lnSpc>
                <a:buFont typeface="Arial"/>
                <a:buChar char="•"/>
              </a:pPr>
              <a:r>
                <a:rPr lang="en-US" b="true" sz="3000">
                  <a:solidFill>
                    <a:srgbClr val="000000"/>
                  </a:solidFill>
                  <a:latin typeface="Calibri (MS) Bold"/>
                  <a:ea typeface="Calibri (MS) Bold"/>
                  <a:cs typeface="Calibri (MS) Bold"/>
                  <a:sym typeface="Calibri (MS) Bold"/>
                </a:rPr>
                <a:t>Few Highly Active Users</a:t>
              </a:r>
              <a:r>
                <a:rPr lang="en-US" sz="3000">
                  <a:solidFill>
                    <a:srgbClr val="000000"/>
                  </a:solidFill>
                  <a:latin typeface="Calibri (MS)"/>
                  <a:ea typeface="Calibri (MS)"/>
                  <a:cs typeface="Calibri (MS)"/>
                  <a:sym typeface="Calibri (MS)"/>
                </a:rPr>
                <a:t>: Only 6 use</a:t>
              </a:r>
            </a:p>
            <a:p>
              <a:pPr algn="l" marL="881062" indent="-440531" lvl="1">
                <a:lnSpc>
                  <a:spcPts val="3600"/>
                </a:lnSpc>
                <a:buFont typeface="Arial"/>
                <a:buChar char="•"/>
              </a:pPr>
              <a:r>
                <a:rPr lang="en-US" sz="3000">
                  <a:solidFill>
                    <a:srgbClr val="000000"/>
                  </a:solidFill>
                  <a:latin typeface="Calibri (MS)"/>
                  <a:ea typeface="Calibri (MS)"/>
                  <a:cs typeface="Calibri (MS)"/>
                  <a:sym typeface="Calibri (MS)"/>
                </a:rPr>
                <a:t>rs posted more than 6 photos and 1 user reaching 12 posts, revealing a lack of highly active users on the platform.</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881366" y="550093"/>
            <a:ext cx="15201595" cy="871490"/>
          </a:xfrm>
          <a:prstGeom prst="rect">
            <a:avLst/>
          </a:prstGeom>
        </p:spPr>
        <p:txBody>
          <a:bodyPr anchor="t" rtlCol="false" tIns="0" lIns="0" bIns="0" rIns="0">
            <a:spAutoFit/>
          </a:bodyPr>
          <a:lstStyle/>
          <a:p>
            <a:pPr algn="l">
              <a:lnSpc>
                <a:spcPts val="5759"/>
              </a:lnSpc>
            </a:pPr>
            <a:r>
              <a:rPr lang="en-US" b="true" sz="4800" u="sng">
                <a:solidFill>
                  <a:srgbClr val="171616"/>
                </a:solidFill>
                <a:latin typeface="Calibri (MS) Bold"/>
                <a:ea typeface="Calibri (MS) Bold"/>
                <a:cs typeface="Calibri (MS) Bold"/>
                <a:sym typeface="Calibri (MS) Bold"/>
              </a:rPr>
              <a:t>3. TAGS</a:t>
            </a:r>
          </a:p>
        </p:txBody>
      </p:sp>
      <p:sp>
        <p:nvSpPr>
          <p:cNvPr name="TextBox 3" id="3"/>
          <p:cNvSpPr txBox="true"/>
          <p:nvPr/>
        </p:nvSpPr>
        <p:spPr>
          <a:xfrm rot="0">
            <a:off x="1181186" y="1520266"/>
            <a:ext cx="15562364" cy="575443"/>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In total there are 21 different tags used by the users.</a:t>
            </a:r>
          </a:p>
        </p:txBody>
      </p:sp>
      <p:grpSp>
        <p:nvGrpSpPr>
          <p:cNvPr name="Group 4" id="4"/>
          <p:cNvGrpSpPr/>
          <p:nvPr/>
        </p:nvGrpSpPr>
        <p:grpSpPr>
          <a:xfrm rot="0">
            <a:off x="1089765" y="5993702"/>
            <a:ext cx="16337718" cy="3780006"/>
            <a:chOff x="0" y="0"/>
            <a:chExt cx="21783624" cy="5040008"/>
          </a:xfrm>
        </p:grpSpPr>
        <p:sp>
          <p:nvSpPr>
            <p:cNvPr name="Freeform 5" id="5"/>
            <p:cNvSpPr/>
            <p:nvPr/>
          </p:nvSpPr>
          <p:spPr>
            <a:xfrm flipH="false" flipV="false" rot="0">
              <a:off x="0" y="0"/>
              <a:ext cx="21783675" cy="5039995"/>
            </a:xfrm>
            <a:custGeom>
              <a:avLst/>
              <a:gdLst/>
              <a:ahLst/>
              <a:cxnLst/>
              <a:rect r="r" b="b" t="t" l="l"/>
              <a:pathLst>
                <a:path h="5039995" w="21783675">
                  <a:moveTo>
                    <a:pt x="0" y="0"/>
                  </a:moveTo>
                  <a:lnTo>
                    <a:pt x="21783675" y="0"/>
                  </a:lnTo>
                  <a:lnTo>
                    <a:pt x="21783675" y="5039995"/>
                  </a:lnTo>
                  <a:lnTo>
                    <a:pt x="0" y="5039995"/>
                  </a:lnTo>
                  <a:lnTo>
                    <a:pt x="0" y="0"/>
                  </a:lnTo>
                  <a:close/>
                </a:path>
              </a:pathLst>
            </a:custGeom>
            <a:blipFill>
              <a:blip r:embed="rId2"/>
              <a:stretch>
                <a:fillRect l="0" t="0" r="-594" b="0"/>
              </a:stretch>
            </a:blipFill>
          </p:spPr>
        </p:sp>
      </p:grpSp>
      <p:grpSp>
        <p:nvGrpSpPr>
          <p:cNvPr name="Group 6" id="6"/>
          <p:cNvGrpSpPr/>
          <p:nvPr/>
        </p:nvGrpSpPr>
        <p:grpSpPr>
          <a:xfrm rot="0">
            <a:off x="1737989" y="2424208"/>
            <a:ext cx="5026066" cy="2908487"/>
            <a:chOff x="0" y="0"/>
            <a:chExt cx="6701422" cy="3877983"/>
          </a:xfrm>
        </p:grpSpPr>
        <p:sp>
          <p:nvSpPr>
            <p:cNvPr name="Freeform 7" id="7"/>
            <p:cNvSpPr/>
            <p:nvPr/>
          </p:nvSpPr>
          <p:spPr>
            <a:xfrm flipH="false" flipV="false" rot="0">
              <a:off x="0" y="0"/>
              <a:ext cx="6701426" cy="3877984"/>
            </a:xfrm>
            <a:custGeom>
              <a:avLst/>
              <a:gdLst/>
              <a:ahLst/>
              <a:cxnLst/>
              <a:rect r="r" b="b" t="t" l="l"/>
              <a:pathLst>
                <a:path h="3877984" w="6701426">
                  <a:moveTo>
                    <a:pt x="0" y="0"/>
                  </a:moveTo>
                  <a:lnTo>
                    <a:pt x="6701426" y="0"/>
                  </a:lnTo>
                  <a:lnTo>
                    <a:pt x="6701426" y="3877984"/>
                  </a:lnTo>
                  <a:lnTo>
                    <a:pt x="0" y="3877984"/>
                  </a:lnTo>
                  <a:close/>
                </a:path>
              </a:pathLst>
            </a:custGeom>
            <a:blipFill>
              <a:blip r:embed="rId3">
                <a:alphaModFix amt="0"/>
              </a:blip>
              <a:stretch>
                <a:fillRect l="-24246" t="0" r="-24246" b="0"/>
              </a:stretch>
            </a:blipFill>
          </p:spPr>
        </p:sp>
        <p:sp>
          <p:nvSpPr>
            <p:cNvPr name="TextBox 8" id="8"/>
            <p:cNvSpPr txBox="true"/>
            <p:nvPr/>
          </p:nvSpPr>
          <p:spPr>
            <a:xfrm>
              <a:off x="0" y="-66675"/>
              <a:ext cx="6701422" cy="3944658"/>
            </a:xfrm>
            <a:prstGeom prst="rect">
              <a:avLst/>
            </a:prstGeom>
          </p:spPr>
          <p:txBody>
            <a:bodyPr anchor="ctr" rtlCol="false" tIns="0" lIns="0" bIns="0" rIns="0"/>
            <a:lstStyle/>
            <a:p>
              <a:pPr algn="l">
                <a:lnSpc>
                  <a:spcPts val="3600"/>
                </a:lnSpc>
              </a:pPr>
              <a:r>
                <a:rPr lang="en-US" b="true" sz="3000">
                  <a:solidFill>
                    <a:srgbClr val="000000"/>
                  </a:solidFill>
                  <a:latin typeface="Calibri (MS) Bold"/>
                  <a:ea typeface="Calibri (MS) Bold"/>
                  <a:cs typeface="Calibri (MS) Bold"/>
                  <a:sym typeface="Calibri (MS) Bold"/>
                </a:rPr>
                <a:t>High Inactivity with Tags</a:t>
              </a:r>
            </a:p>
            <a:p>
              <a:pPr algn="l">
                <a:lnSpc>
                  <a:spcPts val="3600"/>
                </a:lnSpc>
              </a:pPr>
              <a:r>
                <a:rPr lang="en-US" sz="3000">
                  <a:solidFill>
                    <a:srgbClr val="000000"/>
                  </a:solidFill>
                  <a:latin typeface="Calibri (MS)"/>
                  <a:ea typeface="Calibri (MS)"/>
                  <a:cs typeface="Calibri (MS)"/>
                  <a:sym typeface="Calibri (MS)"/>
                </a:rPr>
                <a:t> </a:t>
              </a:r>
            </a:p>
            <a:p>
              <a:pPr algn="l" marL="352425" indent="-176212" lvl="1">
                <a:lnSpc>
                  <a:spcPts val="3600"/>
                </a:lnSpc>
                <a:buFont typeface="Arial"/>
                <a:buChar char="•"/>
              </a:pPr>
              <a:r>
                <a:rPr lang="en-US" sz="3000">
                  <a:solidFill>
                    <a:srgbClr val="000000"/>
                  </a:solidFill>
                  <a:latin typeface="Calibri (MS)"/>
                  <a:ea typeface="Calibri (MS)"/>
                  <a:cs typeface="Calibri (MS)"/>
                  <a:sym typeface="Calibri (MS)"/>
                </a:rPr>
                <a:t> 31 users have used 0 tags</a:t>
              </a:r>
            </a:p>
            <a:p>
              <a:pPr algn="l" marL="352425" indent="-176212" lvl="1">
                <a:lnSpc>
                  <a:spcPts val="3600"/>
                </a:lnSpc>
                <a:buFont typeface="Arial"/>
                <a:buChar char="•"/>
              </a:pPr>
              <a:r>
                <a:rPr lang="en-US" sz="3000">
                  <a:solidFill>
                    <a:srgbClr val="000000"/>
                  </a:solidFill>
                  <a:latin typeface="Calibri (MS)"/>
                  <a:ea typeface="Calibri (MS)"/>
                  <a:cs typeface="Calibri (MS)"/>
                  <a:sym typeface="Calibri (MS)"/>
                </a:rPr>
                <a:t> Indicating a significant portion of users who do not engage with tags at all.</a:t>
              </a:r>
            </a:p>
          </p:txBody>
        </p:sp>
      </p:grpSp>
      <p:sp>
        <p:nvSpPr>
          <p:cNvPr name="TextBox 9" id="9"/>
          <p:cNvSpPr txBox="true"/>
          <p:nvPr/>
        </p:nvSpPr>
        <p:spPr>
          <a:xfrm rot="0">
            <a:off x="7881366" y="2403234"/>
            <a:ext cx="9454686" cy="2883760"/>
          </a:xfrm>
          <a:prstGeom prst="rect">
            <a:avLst/>
          </a:prstGeom>
        </p:spPr>
        <p:txBody>
          <a:bodyPr anchor="t" rtlCol="false" tIns="0" lIns="0" bIns="0" rIns="0">
            <a:spAutoFit/>
          </a:bodyPr>
          <a:lstStyle/>
          <a:p>
            <a:pPr algn="l">
              <a:lnSpc>
                <a:spcPts val="3600"/>
              </a:lnSpc>
            </a:pPr>
            <a:r>
              <a:rPr lang="en-US" b="true" sz="3000">
                <a:solidFill>
                  <a:srgbClr val="000000"/>
                </a:solidFill>
                <a:latin typeface="Calibri (MS) Bold"/>
                <a:ea typeface="Calibri (MS) Bold"/>
                <a:cs typeface="Calibri (MS) Bold"/>
                <a:sym typeface="Calibri (MS) Bold"/>
              </a:rPr>
              <a:t>Few Highly Active Tag Users</a:t>
            </a:r>
          </a:p>
          <a:p>
            <a:pPr algn="l">
              <a:lnSpc>
                <a:spcPts val="2520"/>
              </a:lnSpc>
            </a:pPr>
          </a:p>
          <a:p>
            <a:pPr algn="l" marL="352425" indent="-176212" lvl="1">
              <a:lnSpc>
                <a:spcPts val="3600"/>
              </a:lnSpc>
              <a:buFont typeface="Arial"/>
              <a:buChar char="•"/>
            </a:pPr>
            <a:r>
              <a:rPr lang="en-US" sz="3000">
                <a:solidFill>
                  <a:srgbClr val="000000"/>
                </a:solidFill>
                <a:latin typeface="Calibri (MS)"/>
                <a:ea typeface="Calibri (MS)"/>
                <a:cs typeface="Calibri (MS)"/>
                <a:sym typeface="Calibri (MS)"/>
              </a:rPr>
              <a:t> Only a small number of users have used more than 6 tags</a:t>
            </a:r>
          </a:p>
          <a:p>
            <a:pPr algn="l" marL="352425" indent="-176212" lvl="1">
              <a:lnSpc>
                <a:spcPts val="3600"/>
              </a:lnSpc>
              <a:buFont typeface="Arial"/>
              <a:buChar char="•"/>
            </a:pPr>
            <a:r>
              <a:rPr lang="en-US" sz="3000">
                <a:solidFill>
                  <a:srgbClr val="000000"/>
                </a:solidFill>
                <a:latin typeface="Calibri (MS)"/>
                <a:ea typeface="Calibri (MS)"/>
                <a:cs typeface="Calibri (MS)"/>
                <a:sym typeface="Calibri (MS)"/>
              </a:rPr>
              <a:t> 1 user using up to 15 tags </a:t>
            </a:r>
          </a:p>
          <a:p>
            <a:pPr algn="l" marL="352425" indent="-176212" lvl="1">
              <a:lnSpc>
                <a:spcPts val="3600"/>
              </a:lnSpc>
              <a:buFont typeface="Arial"/>
              <a:buChar char="•"/>
            </a:pPr>
            <a:r>
              <a:rPr lang="en-US" sz="3000">
                <a:solidFill>
                  <a:srgbClr val="000000"/>
                </a:solidFill>
                <a:latin typeface="Calibri (MS)"/>
                <a:ea typeface="Calibri (MS)"/>
                <a:cs typeface="Calibri (MS)"/>
                <a:sym typeface="Calibri (MS)"/>
              </a:rPr>
              <a:t> It demonstrate that few users are highly engaged with tagging.</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3269293" y="2933223"/>
          <a:ext cx="11963400" cy="4972050"/>
        </p:xfrm>
        <a:graphic>
          <a:graphicData uri="http://schemas.openxmlformats.org/drawingml/2006/table">
            <a:tbl>
              <a:tblPr/>
              <a:tblGrid>
                <a:gridCol w="5871124"/>
                <a:gridCol w="6092276"/>
              </a:tblGrid>
              <a:tr h="552450">
                <a:tc>
                  <a:txBody>
                    <a:bodyPr anchor="t" rtlCol="false"/>
                    <a:lstStyle/>
                    <a:p>
                      <a:pPr algn="l">
                        <a:lnSpc>
                          <a:spcPts val="3600"/>
                        </a:lnSpc>
                        <a:defRPr/>
                      </a:pPr>
                      <a:r>
                        <a:rPr lang="en-US" b="true" sz="3000">
                          <a:solidFill>
                            <a:srgbClr val="3F3F3F"/>
                          </a:solidFill>
                          <a:latin typeface="Arial Bold"/>
                          <a:ea typeface="Arial Bold"/>
                          <a:cs typeface="Arial Bold"/>
                          <a:sym typeface="Arial Bold"/>
                        </a:rPr>
                        <a:t>CATEGORY </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c>
                  <a:txBody>
                    <a:bodyPr anchor="t" rtlCol="false"/>
                    <a:lstStyle/>
                    <a:p>
                      <a:pPr algn="l">
                        <a:lnSpc>
                          <a:spcPts val="3600"/>
                        </a:lnSpc>
                        <a:defRPr/>
                      </a:pPr>
                      <a:r>
                        <a:rPr lang="en-US" b="true" sz="3000">
                          <a:solidFill>
                            <a:srgbClr val="3F3F3F"/>
                          </a:solidFill>
                          <a:latin typeface="Arial Bold"/>
                          <a:ea typeface="Arial Bold"/>
                          <a:cs typeface="Arial Bold"/>
                          <a:sym typeface="Arial Bold"/>
                        </a:rPr>
                        <a:t>TAGS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r>
              <a:tr h="552450">
                <a:tc>
                  <a:txBody>
                    <a:bodyPr anchor="t" rtlCol="false"/>
                    <a:lstStyle/>
                    <a:p>
                      <a:pPr algn="l">
                        <a:lnSpc>
                          <a:spcPts val="3240"/>
                        </a:lnSpc>
                        <a:defRPr/>
                      </a:pPr>
                      <a:r>
                        <a:rPr lang="en-US" sz="2700">
                          <a:solidFill>
                            <a:srgbClr val="000000"/>
                          </a:solidFill>
                          <a:latin typeface="Arial"/>
                          <a:ea typeface="Arial"/>
                          <a:cs typeface="Arial"/>
                          <a:sym typeface="Arial"/>
                        </a:rPr>
                        <a:t>Joy-Emotions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240"/>
                        </a:lnSpc>
                        <a:defRPr/>
                      </a:pPr>
                      <a:r>
                        <a:rPr lang="en-US" sz="2700">
                          <a:solidFill>
                            <a:srgbClr val="000000"/>
                          </a:solidFill>
                          <a:latin typeface="Arial"/>
                          <a:ea typeface="Arial"/>
                          <a:cs typeface="Arial"/>
                          <a:sym typeface="Arial"/>
                        </a:rPr>
                        <a:t>Happy, Smile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52450">
                <a:tc>
                  <a:txBody>
                    <a:bodyPr anchor="t" rtlCol="false"/>
                    <a:lstStyle/>
                    <a:p>
                      <a:pPr algn="l">
                        <a:lnSpc>
                          <a:spcPts val="3240"/>
                        </a:lnSpc>
                        <a:defRPr/>
                      </a:pPr>
                      <a:r>
                        <a:rPr lang="en-US" sz="2700">
                          <a:solidFill>
                            <a:srgbClr val="000000"/>
                          </a:solidFill>
                          <a:latin typeface="Arial"/>
                          <a:ea typeface="Arial"/>
                          <a:cs typeface="Arial"/>
                          <a:sym typeface="Arial"/>
                        </a:rPr>
                        <a:t>Aesthetics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240"/>
                        </a:lnSpc>
                        <a:defRPr/>
                      </a:pPr>
                      <a:r>
                        <a:rPr lang="en-US" sz="2700">
                          <a:solidFill>
                            <a:srgbClr val="000000"/>
                          </a:solidFill>
                          <a:latin typeface="Arial"/>
                          <a:ea typeface="Arial"/>
                          <a:cs typeface="Arial"/>
                          <a:sym typeface="Arial"/>
                        </a:rPr>
                        <a:t>Stunning, Dreamy</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52450">
                <a:tc>
                  <a:txBody>
                    <a:bodyPr anchor="t" rtlCol="false"/>
                    <a:lstStyle/>
                    <a:p>
                      <a:pPr algn="l">
                        <a:lnSpc>
                          <a:spcPts val="3240"/>
                        </a:lnSpc>
                        <a:defRPr/>
                      </a:pPr>
                      <a:r>
                        <a:rPr lang="en-US" sz="2700">
                          <a:solidFill>
                            <a:srgbClr val="000000"/>
                          </a:solidFill>
                          <a:latin typeface="Arial"/>
                          <a:ea typeface="Arial"/>
                          <a:cs typeface="Arial"/>
                          <a:sym typeface="Arial"/>
                        </a:rPr>
                        <a:t>Food</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240"/>
                        </a:lnSpc>
                        <a:defRPr/>
                      </a:pPr>
                      <a:r>
                        <a:rPr lang="en-US" sz="2700">
                          <a:solidFill>
                            <a:srgbClr val="000000"/>
                          </a:solidFill>
                          <a:latin typeface="Arial"/>
                          <a:ea typeface="Arial"/>
                          <a:cs typeface="Arial"/>
                          <a:sym typeface="Arial"/>
                        </a:rPr>
                        <a:t>Delicious, Food, Foodie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52450">
                <a:tc>
                  <a:txBody>
                    <a:bodyPr anchor="t" rtlCol="false"/>
                    <a:lstStyle/>
                    <a:p>
                      <a:pPr algn="l">
                        <a:lnSpc>
                          <a:spcPts val="3240"/>
                        </a:lnSpc>
                        <a:defRPr/>
                      </a:pPr>
                      <a:r>
                        <a:rPr lang="en-US" sz="2700">
                          <a:solidFill>
                            <a:srgbClr val="000000"/>
                          </a:solidFill>
                          <a:latin typeface="Arial"/>
                          <a:ea typeface="Arial"/>
                          <a:cs typeface="Arial"/>
                          <a:sym typeface="Arial"/>
                        </a:rPr>
                        <a:t>Party &amp; Fun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240"/>
                        </a:lnSpc>
                        <a:defRPr/>
                      </a:pPr>
                      <a:r>
                        <a:rPr lang="en-US" sz="2700">
                          <a:solidFill>
                            <a:srgbClr val="000000"/>
                          </a:solidFill>
                          <a:latin typeface="Arial"/>
                          <a:ea typeface="Arial"/>
                          <a:cs typeface="Arial"/>
                          <a:sym typeface="Arial"/>
                        </a:rPr>
                        <a:t>Concert, Party, Drunk, Lol, Fun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52450">
                <a:tc>
                  <a:txBody>
                    <a:bodyPr anchor="t" rtlCol="false"/>
                    <a:lstStyle/>
                    <a:p>
                      <a:pPr algn="l">
                        <a:lnSpc>
                          <a:spcPts val="3240"/>
                        </a:lnSpc>
                        <a:defRPr/>
                      </a:pPr>
                      <a:r>
                        <a:rPr lang="en-US" sz="2700">
                          <a:solidFill>
                            <a:srgbClr val="000000"/>
                          </a:solidFill>
                          <a:latin typeface="Arial"/>
                          <a:ea typeface="Arial"/>
                          <a:cs typeface="Arial"/>
                          <a:sym typeface="Arial"/>
                        </a:rPr>
                        <a:t>Beauty</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240"/>
                        </a:lnSpc>
                        <a:defRPr/>
                      </a:pPr>
                      <a:r>
                        <a:rPr lang="en-US" sz="2700">
                          <a:solidFill>
                            <a:srgbClr val="000000"/>
                          </a:solidFill>
                          <a:latin typeface="Arial"/>
                          <a:ea typeface="Arial"/>
                          <a:cs typeface="Arial"/>
                          <a:sym typeface="Arial"/>
                        </a:rPr>
                        <a:t>Beauty, Hair</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52450">
                <a:tc>
                  <a:txBody>
                    <a:bodyPr anchor="t" rtlCol="false"/>
                    <a:lstStyle/>
                    <a:p>
                      <a:pPr algn="l">
                        <a:lnSpc>
                          <a:spcPts val="3240"/>
                        </a:lnSpc>
                        <a:defRPr/>
                      </a:pPr>
                      <a:r>
                        <a:rPr lang="en-US" sz="2700">
                          <a:solidFill>
                            <a:srgbClr val="000000"/>
                          </a:solidFill>
                          <a:latin typeface="Arial"/>
                          <a:ea typeface="Arial"/>
                          <a:cs typeface="Arial"/>
                          <a:sym typeface="Arial"/>
                        </a:rPr>
                        <a:t>Landscape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240"/>
                        </a:lnSpc>
                        <a:defRPr/>
                      </a:pPr>
                      <a:r>
                        <a:rPr lang="en-US" sz="2700">
                          <a:solidFill>
                            <a:srgbClr val="000000"/>
                          </a:solidFill>
                          <a:latin typeface="Arial"/>
                          <a:ea typeface="Arial"/>
                          <a:cs typeface="Arial"/>
                          <a:sym typeface="Arial"/>
                        </a:rPr>
                        <a:t>Landscape, Sunrise, Sunset, Beach</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52450">
                <a:tc>
                  <a:txBody>
                    <a:bodyPr anchor="t" rtlCol="false"/>
                    <a:lstStyle/>
                    <a:p>
                      <a:pPr algn="l">
                        <a:lnSpc>
                          <a:spcPts val="3240"/>
                        </a:lnSpc>
                        <a:defRPr/>
                      </a:pPr>
                      <a:r>
                        <a:rPr lang="en-US" sz="2700">
                          <a:solidFill>
                            <a:srgbClr val="000000"/>
                          </a:solidFill>
                          <a:latin typeface="Arial"/>
                          <a:ea typeface="Arial"/>
                          <a:cs typeface="Arial"/>
                          <a:sym typeface="Arial"/>
                        </a:rPr>
                        <a:t>Fashion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240"/>
                        </a:lnSpc>
                        <a:defRPr/>
                      </a:pPr>
                      <a:r>
                        <a:rPr lang="en-US" sz="2700">
                          <a:solidFill>
                            <a:srgbClr val="000000"/>
                          </a:solidFill>
                          <a:latin typeface="Arial"/>
                          <a:ea typeface="Arial"/>
                          <a:cs typeface="Arial"/>
                          <a:sym typeface="Arial"/>
                        </a:rPr>
                        <a:t>Fashion, Style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52450">
                <a:tc>
                  <a:txBody>
                    <a:bodyPr anchor="t" rtlCol="false"/>
                    <a:lstStyle/>
                    <a:p>
                      <a:pPr algn="l">
                        <a:lnSpc>
                          <a:spcPts val="3240"/>
                        </a:lnSpc>
                        <a:defRPr/>
                      </a:pPr>
                      <a:r>
                        <a:rPr lang="en-US" sz="2700">
                          <a:solidFill>
                            <a:srgbClr val="000000"/>
                          </a:solidFill>
                          <a:latin typeface="Arial"/>
                          <a:ea typeface="Arial"/>
                          <a:cs typeface="Arial"/>
                          <a:sym typeface="Arial"/>
                        </a:rPr>
                        <a:t>Photography</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240"/>
                        </a:lnSpc>
                        <a:defRPr/>
                      </a:pPr>
                      <a:r>
                        <a:rPr lang="en-US" sz="2700">
                          <a:solidFill>
                            <a:srgbClr val="000000"/>
                          </a:solidFill>
                          <a:latin typeface="Arial"/>
                          <a:ea typeface="Arial"/>
                          <a:cs typeface="Arial"/>
                          <a:sym typeface="Arial"/>
                        </a:rPr>
                        <a:t>Photography</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901195" y="2135163"/>
            <a:ext cx="16764867" cy="575443"/>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For Better understanding, I have categorized tags into 8 different Categories:</a:t>
            </a:r>
          </a:p>
        </p:txBody>
      </p:sp>
      <p:sp>
        <p:nvSpPr>
          <p:cNvPr name="TextBox 4" id="4"/>
          <p:cNvSpPr txBox="true"/>
          <p:nvPr/>
        </p:nvSpPr>
        <p:spPr>
          <a:xfrm rot="0">
            <a:off x="5750546" y="904875"/>
            <a:ext cx="8624298" cy="1074347"/>
          </a:xfrm>
          <a:prstGeom prst="rect">
            <a:avLst/>
          </a:prstGeom>
        </p:spPr>
        <p:txBody>
          <a:bodyPr anchor="t" rtlCol="false" tIns="0" lIns="0" bIns="0" rIns="0">
            <a:spAutoFit/>
          </a:bodyPr>
          <a:lstStyle/>
          <a:p>
            <a:pPr algn="l">
              <a:lnSpc>
                <a:spcPts val="6831"/>
              </a:lnSpc>
            </a:pPr>
            <a:r>
              <a:rPr lang="en-US" b="true" sz="5692">
                <a:solidFill>
                  <a:srgbClr val="262626"/>
                </a:solidFill>
                <a:latin typeface="Calibri (MS) Bold"/>
                <a:ea typeface="Calibri (MS) Bold"/>
                <a:cs typeface="Calibri (MS) Bold"/>
                <a:sym typeface="Calibri (MS) Bold"/>
              </a:rPr>
              <a:t>Tag Categorization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607904" y="1689878"/>
            <a:ext cx="8574062" cy="7028231"/>
            <a:chOff x="0" y="0"/>
            <a:chExt cx="11432083" cy="9370974"/>
          </a:xfrm>
        </p:grpSpPr>
        <p:sp>
          <p:nvSpPr>
            <p:cNvPr name="Freeform 3" id="3"/>
            <p:cNvSpPr/>
            <p:nvPr/>
          </p:nvSpPr>
          <p:spPr>
            <a:xfrm flipH="false" flipV="false" rot="0">
              <a:off x="0" y="0"/>
              <a:ext cx="11432032" cy="9370949"/>
            </a:xfrm>
            <a:custGeom>
              <a:avLst/>
              <a:gdLst/>
              <a:ahLst/>
              <a:cxnLst/>
              <a:rect r="r" b="b" t="t" l="l"/>
              <a:pathLst>
                <a:path h="9370949" w="11432032">
                  <a:moveTo>
                    <a:pt x="0" y="0"/>
                  </a:moveTo>
                  <a:lnTo>
                    <a:pt x="11432032" y="0"/>
                  </a:lnTo>
                  <a:lnTo>
                    <a:pt x="11432032" y="9370949"/>
                  </a:lnTo>
                  <a:lnTo>
                    <a:pt x="0" y="9370949"/>
                  </a:lnTo>
                  <a:lnTo>
                    <a:pt x="0" y="0"/>
                  </a:lnTo>
                  <a:close/>
                </a:path>
              </a:pathLst>
            </a:custGeom>
            <a:blipFill>
              <a:blip r:embed="rId2"/>
              <a:stretch>
                <a:fillRect l="0" t="0" r="-168" b="0"/>
              </a:stretch>
            </a:blipFill>
          </p:spPr>
        </p:sp>
      </p:grpSp>
      <p:sp>
        <p:nvSpPr>
          <p:cNvPr name="TextBox 4" id="4"/>
          <p:cNvSpPr txBox="true"/>
          <p:nvPr/>
        </p:nvSpPr>
        <p:spPr>
          <a:xfrm rot="0">
            <a:off x="1028700" y="1202359"/>
            <a:ext cx="10115835" cy="879787"/>
          </a:xfrm>
          <a:prstGeom prst="rect">
            <a:avLst/>
          </a:prstGeom>
        </p:spPr>
        <p:txBody>
          <a:bodyPr anchor="t" rtlCol="false" tIns="0" lIns="0" bIns="0" rIns="0">
            <a:spAutoFit/>
          </a:bodyPr>
          <a:lstStyle/>
          <a:p>
            <a:pPr algn="l">
              <a:lnSpc>
                <a:spcPts val="5638"/>
              </a:lnSpc>
            </a:pPr>
            <a:r>
              <a:rPr lang="en-US" b="true" sz="4698" u="sng">
                <a:solidFill>
                  <a:srgbClr val="262626"/>
                </a:solidFill>
                <a:latin typeface="Calibri (MS) Bold"/>
                <a:ea typeface="Calibri (MS) Bold"/>
                <a:cs typeface="Calibri (MS) Bold"/>
                <a:sym typeface="Calibri (MS) Bold"/>
              </a:rPr>
              <a:t>CONTENT-CENTRIC ANALYSIS</a:t>
            </a:r>
          </a:p>
        </p:txBody>
      </p:sp>
      <p:sp>
        <p:nvSpPr>
          <p:cNvPr name="TextBox 5" id="5"/>
          <p:cNvSpPr txBox="true"/>
          <p:nvPr/>
        </p:nvSpPr>
        <p:spPr>
          <a:xfrm rot="0">
            <a:off x="1197454" y="2848794"/>
            <a:ext cx="6226740" cy="5544693"/>
          </a:xfrm>
          <a:prstGeom prst="rect">
            <a:avLst/>
          </a:prstGeom>
        </p:spPr>
        <p:txBody>
          <a:bodyPr anchor="t" rtlCol="false" tIns="0" lIns="0" bIns="0" rIns="0">
            <a:spAutoFit/>
          </a:bodyPr>
          <a:lstStyle/>
          <a:p>
            <a:pPr algn="l" marL="542925" indent="-271462" lvl="1">
              <a:lnSpc>
                <a:spcPts val="3852"/>
              </a:lnSpc>
              <a:buFont typeface="Arial"/>
              <a:buChar char="•"/>
            </a:pPr>
            <a:r>
              <a:rPr lang="en-US" sz="3000">
                <a:solidFill>
                  <a:srgbClr val="000000"/>
                </a:solidFill>
                <a:latin typeface="Calibri (MS)"/>
                <a:ea typeface="Calibri (MS)"/>
                <a:cs typeface="Calibri (MS)"/>
                <a:sym typeface="Calibri (MS)"/>
              </a:rPr>
              <a:t>Most Liked Categories- Party &amp; Fun, Landscape, Joy-Emotions represents users that are drawn to </a:t>
            </a:r>
            <a:r>
              <a:rPr lang="en-US" b="true" sz="3000">
                <a:solidFill>
                  <a:srgbClr val="000000"/>
                </a:solidFill>
                <a:latin typeface="Calibri (MS) Bold"/>
                <a:ea typeface="Calibri (MS) Bold"/>
                <a:cs typeface="Calibri (MS) Bold"/>
                <a:sym typeface="Calibri (MS) Bold"/>
              </a:rPr>
              <a:t>energetic, visually appealing, and emotionally uplifting content</a:t>
            </a:r>
          </a:p>
          <a:p>
            <a:pPr algn="l" marL="380048" indent="-190024" lvl="1">
              <a:lnSpc>
                <a:spcPts val="2696"/>
              </a:lnSpc>
            </a:pPr>
          </a:p>
          <a:p>
            <a:pPr algn="l" marL="542925" indent="-271462" lvl="1">
              <a:lnSpc>
                <a:spcPts val="3852"/>
              </a:lnSpc>
              <a:buFont typeface="Arial"/>
              <a:buChar char="•"/>
            </a:pPr>
            <a:r>
              <a:rPr lang="en-US" sz="3000">
                <a:solidFill>
                  <a:srgbClr val="000000"/>
                </a:solidFill>
                <a:latin typeface="Calibri (MS)"/>
                <a:ea typeface="Calibri (MS)"/>
                <a:cs typeface="Calibri (MS)"/>
                <a:sym typeface="Calibri (MS)"/>
              </a:rPr>
              <a:t>While Least Liked categories like- Photography, Aesthetics have low overall engagement, they may still resonate with a </a:t>
            </a:r>
            <a:r>
              <a:rPr lang="en-US" b="true" sz="3000">
                <a:solidFill>
                  <a:srgbClr val="000000"/>
                </a:solidFill>
                <a:latin typeface="Calibri (MS) Bold"/>
                <a:ea typeface="Calibri (MS) Bold"/>
                <a:cs typeface="Calibri (MS) Bold"/>
                <a:sym typeface="Calibri (MS) Bold"/>
              </a:rPr>
              <a:t>niche audience</a:t>
            </a:r>
            <a:r>
              <a:rPr lang="en-US" sz="3000">
                <a:solidFill>
                  <a:srgbClr val="000000"/>
                </a:solidFill>
                <a:latin typeface="Calibri (MS)"/>
                <a:ea typeface="Calibri (MS)"/>
                <a:cs typeface="Calibri (MS)"/>
                <a:sym typeface="Calibri (MS)"/>
              </a:rPr>
              <a:t>.</a:t>
            </a:r>
          </a:p>
          <a:p>
            <a:pPr algn="l" marL="380048" indent="-190024" lvl="1">
              <a:lnSpc>
                <a:spcPts val="2696"/>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379914" y="1615859"/>
            <a:ext cx="9325632" cy="8003372"/>
            <a:chOff x="0" y="0"/>
            <a:chExt cx="12434176" cy="10671162"/>
          </a:xfrm>
        </p:grpSpPr>
        <p:sp>
          <p:nvSpPr>
            <p:cNvPr name="Freeform 3" id="3"/>
            <p:cNvSpPr/>
            <p:nvPr/>
          </p:nvSpPr>
          <p:spPr>
            <a:xfrm flipH="false" flipV="false" rot="0">
              <a:off x="0" y="0"/>
              <a:ext cx="12434189" cy="10671175"/>
            </a:xfrm>
            <a:custGeom>
              <a:avLst/>
              <a:gdLst/>
              <a:ahLst/>
              <a:cxnLst/>
              <a:rect r="r" b="b" t="t" l="l"/>
              <a:pathLst>
                <a:path h="10671175" w="12434189">
                  <a:moveTo>
                    <a:pt x="0" y="0"/>
                  </a:moveTo>
                  <a:lnTo>
                    <a:pt x="12434189" y="0"/>
                  </a:lnTo>
                  <a:lnTo>
                    <a:pt x="12434189" y="10671175"/>
                  </a:lnTo>
                  <a:lnTo>
                    <a:pt x="0" y="10671175"/>
                  </a:lnTo>
                  <a:lnTo>
                    <a:pt x="0" y="0"/>
                  </a:lnTo>
                  <a:close/>
                </a:path>
              </a:pathLst>
            </a:custGeom>
            <a:blipFill>
              <a:blip r:embed="rId2"/>
              <a:stretch>
                <a:fillRect l="0" t="0" r="-180" b="0"/>
              </a:stretch>
            </a:blipFill>
          </p:spPr>
        </p:sp>
      </p:grpSp>
      <p:sp>
        <p:nvSpPr>
          <p:cNvPr name="TextBox 4" id="4"/>
          <p:cNvSpPr txBox="true"/>
          <p:nvPr/>
        </p:nvSpPr>
        <p:spPr>
          <a:xfrm rot="0">
            <a:off x="1199979" y="2575284"/>
            <a:ext cx="6455950" cy="5050707"/>
          </a:xfrm>
          <a:prstGeom prst="rect">
            <a:avLst/>
          </a:prstGeom>
        </p:spPr>
        <p:txBody>
          <a:bodyPr anchor="t" rtlCol="false" tIns="0" lIns="0" bIns="0" rIns="0">
            <a:spAutoFit/>
          </a:bodyPr>
          <a:lstStyle/>
          <a:p>
            <a:pPr algn="l" marL="542925" indent="-271462" lvl="1">
              <a:lnSpc>
                <a:spcPts val="3852"/>
              </a:lnSpc>
              <a:buFont typeface="Arial"/>
              <a:buChar char="•"/>
            </a:pPr>
            <a:r>
              <a:rPr lang="en-US" b="true" sz="3000" u="sng">
                <a:solidFill>
                  <a:srgbClr val="000000"/>
                </a:solidFill>
                <a:latin typeface="Calibri (MS) Bold"/>
                <a:ea typeface="Calibri (MS) Bold"/>
                <a:cs typeface="Calibri (MS) Bold"/>
                <a:sym typeface="Calibri (MS) Bold"/>
              </a:rPr>
              <a:t>PHOTOGRAPHY</a:t>
            </a:r>
            <a:r>
              <a:rPr lang="en-US" sz="3000">
                <a:solidFill>
                  <a:srgbClr val="000000"/>
                </a:solidFill>
                <a:latin typeface="Calibri (MS)"/>
                <a:ea typeface="Calibri (MS)"/>
                <a:cs typeface="Calibri (MS)"/>
                <a:sym typeface="Calibri (MS)"/>
              </a:rPr>
              <a:t> is the only tag category whose people are using it but not engaging enough to make it to anyone’s top 3 most liked Tags Category.</a:t>
            </a:r>
          </a:p>
          <a:p>
            <a:pPr algn="l" marL="380048" indent="-190024" lvl="1">
              <a:lnSpc>
                <a:spcPts val="2696"/>
              </a:lnSpc>
            </a:pPr>
          </a:p>
          <a:p>
            <a:pPr algn="l" marL="542925" indent="-271462" lvl="1">
              <a:lnSpc>
                <a:spcPts val="3852"/>
              </a:lnSpc>
              <a:buFont typeface="Arial"/>
              <a:buChar char="•"/>
            </a:pPr>
            <a:r>
              <a:rPr lang="en-US" sz="3000">
                <a:solidFill>
                  <a:srgbClr val="000000"/>
                </a:solidFill>
                <a:latin typeface="Calibri (MS)"/>
                <a:ea typeface="Calibri (MS)"/>
                <a:cs typeface="Calibri (MS)"/>
                <a:sym typeface="Calibri (MS)"/>
              </a:rPr>
              <a:t>Nearly </a:t>
            </a:r>
            <a:r>
              <a:rPr lang="en-US" b="true" sz="3000">
                <a:solidFill>
                  <a:srgbClr val="000000"/>
                </a:solidFill>
                <a:latin typeface="Calibri (MS) Bold"/>
                <a:ea typeface="Calibri (MS) Bold"/>
                <a:cs typeface="Calibri (MS) Bold"/>
                <a:sym typeface="Calibri (MS) Bold"/>
              </a:rPr>
              <a:t>every user</a:t>
            </a:r>
            <a:r>
              <a:rPr lang="en-US" sz="3000">
                <a:solidFill>
                  <a:srgbClr val="000000"/>
                </a:solidFill>
                <a:latin typeface="Calibri (MS)"/>
                <a:ea typeface="Calibri (MS)"/>
                <a:cs typeface="Calibri (MS)"/>
                <a:sym typeface="Calibri (MS)"/>
              </a:rPr>
              <a:t> who engages with below tags including them in their top 3 most liked categories - Party &amp; Fun, Landscape, Joy-Emotions</a:t>
            </a:r>
          </a:p>
        </p:txBody>
      </p:sp>
      <p:sp>
        <p:nvSpPr>
          <p:cNvPr name="TextBox 5" id="5"/>
          <p:cNvSpPr txBox="true"/>
          <p:nvPr/>
        </p:nvSpPr>
        <p:spPr>
          <a:xfrm rot="0">
            <a:off x="1199979" y="1073229"/>
            <a:ext cx="7772663" cy="970959"/>
          </a:xfrm>
          <a:prstGeom prst="rect">
            <a:avLst/>
          </a:prstGeom>
        </p:spPr>
        <p:txBody>
          <a:bodyPr anchor="t" rtlCol="false" tIns="0" lIns="0" bIns="0" rIns="0">
            <a:spAutoFit/>
          </a:bodyPr>
          <a:lstStyle/>
          <a:p>
            <a:pPr algn="l">
              <a:lnSpc>
                <a:spcPts val="6156"/>
              </a:lnSpc>
            </a:pPr>
            <a:r>
              <a:rPr lang="en-US" b="true" sz="5130" u="sng">
                <a:solidFill>
                  <a:srgbClr val="262626"/>
                </a:solidFill>
                <a:latin typeface="Calibri (MS) Bold"/>
                <a:ea typeface="Calibri (MS) Bold"/>
                <a:cs typeface="Calibri (MS) Bold"/>
                <a:sym typeface="Calibri (MS) Bold"/>
              </a:rPr>
              <a:t>USER-CENTRIC ANALYSIS</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30466" y="683095"/>
            <a:ext cx="17366113" cy="667769"/>
          </a:xfrm>
          <a:prstGeom prst="rect">
            <a:avLst/>
          </a:prstGeom>
        </p:spPr>
        <p:txBody>
          <a:bodyPr anchor="t" rtlCol="false" tIns="0" lIns="0" bIns="0" rIns="0">
            <a:spAutoFit/>
          </a:bodyPr>
          <a:lstStyle/>
          <a:p>
            <a:pPr algn="l">
              <a:lnSpc>
                <a:spcPts val="4320"/>
              </a:lnSpc>
            </a:pPr>
            <a:r>
              <a:rPr lang="en-US" b="true" sz="3600">
                <a:solidFill>
                  <a:srgbClr val="00695C"/>
                </a:solidFill>
                <a:latin typeface="Calibri (MS) Bold"/>
                <a:ea typeface="Calibri (MS) Bold"/>
                <a:cs typeface="Calibri (MS) Bold"/>
                <a:sym typeface="Calibri (MS) Bold"/>
              </a:rPr>
              <a:t>How User centric analysis and Content centric analysis will help in developing strategies</a:t>
            </a:r>
          </a:p>
        </p:txBody>
      </p:sp>
      <p:sp>
        <p:nvSpPr>
          <p:cNvPr name="TextBox 3" id="3"/>
          <p:cNvSpPr txBox="true"/>
          <p:nvPr/>
        </p:nvSpPr>
        <p:spPr>
          <a:xfrm rot="0">
            <a:off x="1671571" y="1828124"/>
            <a:ext cx="7750521" cy="667769"/>
          </a:xfrm>
          <a:prstGeom prst="rect">
            <a:avLst/>
          </a:prstGeom>
        </p:spPr>
        <p:txBody>
          <a:bodyPr anchor="t" rtlCol="false" tIns="0" lIns="0" bIns="0" rIns="0">
            <a:spAutoFit/>
          </a:bodyPr>
          <a:lstStyle/>
          <a:p>
            <a:pPr algn="l">
              <a:lnSpc>
                <a:spcPts val="4320"/>
              </a:lnSpc>
            </a:pPr>
            <a:r>
              <a:rPr lang="en-US" b="true" sz="3600">
                <a:solidFill>
                  <a:srgbClr val="00695C"/>
                </a:solidFill>
                <a:latin typeface="Calibri (MS) Bold"/>
                <a:ea typeface="Calibri (MS) Bold"/>
                <a:cs typeface="Calibri (MS) Bold"/>
                <a:sym typeface="Calibri (MS) Bold"/>
              </a:rPr>
              <a:t>CONTENT-CENTRIC ANALYSIS</a:t>
            </a:r>
          </a:p>
        </p:txBody>
      </p:sp>
      <p:sp>
        <p:nvSpPr>
          <p:cNvPr name="TextBox 4" id="4"/>
          <p:cNvSpPr txBox="true"/>
          <p:nvPr/>
        </p:nvSpPr>
        <p:spPr>
          <a:xfrm rot="0">
            <a:off x="11162567" y="1828124"/>
            <a:ext cx="5453863" cy="667769"/>
          </a:xfrm>
          <a:prstGeom prst="rect">
            <a:avLst/>
          </a:prstGeom>
        </p:spPr>
        <p:txBody>
          <a:bodyPr anchor="t" rtlCol="false" tIns="0" lIns="0" bIns="0" rIns="0">
            <a:spAutoFit/>
          </a:bodyPr>
          <a:lstStyle/>
          <a:p>
            <a:pPr algn="l">
              <a:lnSpc>
                <a:spcPts val="4320"/>
              </a:lnSpc>
            </a:pPr>
            <a:r>
              <a:rPr lang="en-US" b="true" sz="3600">
                <a:solidFill>
                  <a:srgbClr val="00695C"/>
                </a:solidFill>
                <a:latin typeface="Calibri (MS) Bold"/>
                <a:ea typeface="Calibri (MS) Bold"/>
                <a:cs typeface="Calibri (MS) Bold"/>
                <a:sym typeface="Calibri (MS) Bold"/>
              </a:rPr>
              <a:t>USER-CENTRIC ANALYSIS</a:t>
            </a:r>
          </a:p>
        </p:txBody>
      </p:sp>
      <p:sp>
        <p:nvSpPr>
          <p:cNvPr name="TextBox 5" id="5"/>
          <p:cNvSpPr txBox="true"/>
          <p:nvPr/>
        </p:nvSpPr>
        <p:spPr>
          <a:xfrm rot="0">
            <a:off x="1671571" y="3191951"/>
            <a:ext cx="6280575" cy="4268762"/>
          </a:xfrm>
          <a:prstGeom prst="rect">
            <a:avLst/>
          </a:prstGeom>
        </p:spPr>
        <p:txBody>
          <a:bodyPr anchor="t" rtlCol="false" tIns="0" lIns="0" bIns="0" rIns="0">
            <a:spAutoFit/>
          </a:bodyPr>
          <a:lstStyle/>
          <a:p>
            <a:pPr algn="l" marL="542925" indent="-271462" lvl="1">
              <a:lnSpc>
                <a:spcPts val="3600"/>
              </a:lnSpc>
              <a:buFont typeface="Arial"/>
              <a:buChar char="•"/>
            </a:pPr>
            <a:r>
              <a:rPr lang="en-US" sz="3000">
                <a:solidFill>
                  <a:srgbClr val="000000"/>
                </a:solidFill>
                <a:latin typeface="Calibri (MS)"/>
                <a:ea typeface="Calibri (MS)"/>
                <a:cs typeface="Calibri (MS)"/>
                <a:sym typeface="Calibri (MS)"/>
              </a:rPr>
              <a:t>This insight is more valuable for developing personalized marketing strategies</a:t>
            </a:r>
          </a:p>
          <a:p>
            <a:pPr algn="l" marL="380048" indent="-190024" lvl="1">
              <a:lnSpc>
                <a:spcPts val="2520"/>
              </a:lnSpc>
            </a:pPr>
          </a:p>
          <a:p>
            <a:pPr algn="l" marL="542925" indent="-271462" lvl="1">
              <a:lnSpc>
                <a:spcPts val="3600"/>
              </a:lnSpc>
              <a:buFont typeface="Arial"/>
              <a:buChar char="•"/>
            </a:pPr>
            <a:r>
              <a:rPr lang="en-US" sz="3000">
                <a:solidFill>
                  <a:srgbClr val="000000"/>
                </a:solidFill>
                <a:latin typeface="Calibri (MS)"/>
                <a:ea typeface="Calibri (MS)"/>
                <a:cs typeface="Calibri (MS)"/>
                <a:sym typeface="Calibri (MS)"/>
              </a:rPr>
              <a:t>It is more actionable for increasing user engagement, retention, and acquisition, as it provides insights into personalized content users are invested in.</a:t>
            </a:r>
          </a:p>
        </p:txBody>
      </p:sp>
      <p:sp>
        <p:nvSpPr>
          <p:cNvPr name="TextBox 6" id="6"/>
          <p:cNvSpPr txBox="true"/>
          <p:nvPr/>
        </p:nvSpPr>
        <p:spPr>
          <a:xfrm rot="0">
            <a:off x="10335854" y="3191951"/>
            <a:ext cx="6280575" cy="3807095"/>
          </a:xfrm>
          <a:prstGeom prst="rect">
            <a:avLst/>
          </a:prstGeom>
        </p:spPr>
        <p:txBody>
          <a:bodyPr anchor="t" rtlCol="false" tIns="0" lIns="0" bIns="0" rIns="0">
            <a:spAutoFit/>
          </a:bodyPr>
          <a:lstStyle/>
          <a:p>
            <a:pPr algn="l" marL="542925" indent="-271462" lvl="1">
              <a:lnSpc>
                <a:spcPts val="3600"/>
              </a:lnSpc>
              <a:buFont typeface="Arial"/>
              <a:buChar char="•"/>
            </a:pPr>
            <a:r>
              <a:rPr lang="en-US" sz="3000">
                <a:solidFill>
                  <a:srgbClr val="000000"/>
                </a:solidFill>
                <a:latin typeface="Calibri (MS)"/>
                <a:ea typeface="Calibri (MS)"/>
                <a:cs typeface="Calibri (MS)"/>
                <a:sym typeface="Calibri (MS)"/>
              </a:rPr>
              <a:t>This insight is more useful for optimizing content creation and general platform engagement</a:t>
            </a:r>
          </a:p>
          <a:p>
            <a:pPr algn="l" marL="380048" indent="-190024" lvl="1">
              <a:lnSpc>
                <a:spcPts val="2520"/>
              </a:lnSpc>
            </a:pPr>
          </a:p>
          <a:p>
            <a:pPr algn="l" marL="542925" indent="-271462" lvl="1">
              <a:lnSpc>
                <a:spcPts val="3600"/>
              </a:lnSpc>
              <a:buFont typeface="Arial"/>
              <a:buChar char="•"/>
            </a:pPr>
            <a:r>
              <a:rPr lang="en-US" sz="3000">
                <a:solidFill>
                  <a:srgbClr val="000000"/>
                </a:solidFill>
                <a:latin typeface="Calibri (MS)"/>
                <a:ea typeface="Calibri (MS)"/>
                <a:cs typeface="Calibri (MS)"/>
                <a:sym typeface="Calibri (MS)"/>
              </a:rPr>
              <a:t>It can guide content strategies for wider audience appeal, but not as targeted or effective for long-term retention and acquisition.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5867" y="2419093"/>
            <a:ext cx="8132521" cy="5448824"/>
            <a:chOff x="0" y="0"/>
            <a:chExt cx="10843362" cy="7265098"/>
          </a:xfrm>
        </p:grpSpPr>
        <p:sp>
          <p:nvSpPr>
            <p:cNvPr name="Freeform 3" id="3"/>
            <p:cNvSpPr/>
            <p:nvPr/>
          </p:nvSpPr>
          <p:spPr>
            <a:xfrm flipH="false" flipV="false" rot="0">
              <a:off x="0" y="0"/>
              <a:ext cx="10843387" cy="7265035"/>
            </a:xfrm>
            <a:custGeom>
              <a:avLst/>
              <a:gdLst/>
              <a:ahLst/>
              <a:cxnLst/>
              <a:rect r="r" b="b" t="t" l="l"/>
              <a:pathLst>
                <a:path h="7265035" w="10843387">
                  <a:moveTo>
                    <a:pt x="0" y="0"/>
                  </a:moveTo>
                  <a:lnTo>
                    <a:pt x="10843387" y="0"/>
                  </a:lnTo>
                  <a:lnTo>
                    <a:pt x="10843387" y="7265035"/>
                  </a:lnTo>
                  <a:lnTo>
                    <a:pt x="0" y="7265035"/>
                  </a:lnTo>
                  <a:lnTo>
                    <a:pt x="0" y="0"/>
                  </a:lnTo>
                  <a:close/>
                </a:path>
              </a:pathLst>
            </a:custGeom>
            <a:blipFill>
              <a:blip r:embed="rId2"/>
              <a:stretch>
                <a:fillRect l="0" t="0" r="0" b="0"/>
              </a:stretch>
            </a:blipFill>
          </p:spPr>
        </p:sp>
      </p:grpSp>
      <p:sp>
        <p:nvSpPr>
          <p:cNvPr name="TextBox 4" id="4"/>
          <p:cNvSpPr txBox="true"/>
          <p:nvPr/>
        </p:nvSpPr>
        <p:spPr>
          <a:xfrm rot="0">
            <a:off x="7420938" y="550093"/>
            <a:ext cx="15201595" cy="871490"/>
          </a:xfrm>
          <a:prstGeom prst="rect">
            <a:avLst/>
          </a:prstGeom>
        </p:spPr>
        <p:txBody>
          <a:bodyPr anchor="t" rtlCol="false" tIns="0" lIns="0" bIns="0" rIns="0">
            <a:spAutoFit/>
          </a:bodyPr>
          <a:lstStyle/>
          <a:p>
            <a:pPr algn="l">
              <a:lnSpc>
                <a:spcPts val="5759"/>
              </a:lnSpc>
            </a:pPr>
            <a:r>
              <a:rPr lang="en-US" b="true" sz="4800" u="sng">
                <a:solidFill>
                  <a:srgbClr val="262626"/>
                </a:solidFill>
                <a:latin typeface="Calibri (MS) Bold"/>
                <a:ea typeface="Calibri (MS) Bold"/>
                <a:cs typeface="Calibri (MS) Bold"/>
                <a:sym typeface="Calibri (MS) Bold"/>
              </a:rPr>
              <a:t>4. ACTIVITY</a:t>
            </a:r>
          </a:p>
        </p:txBody>
      </p:sp>
      <p:sp>
        <p:nvSpPr>
          <p:cNvPr name="TextBox 5" id="5"/>
          <p:cNvSpPr txBox="true"/>
          <p:nvPr/>
        </p:nvSpPr>
        <p:spPr>
          <a:xfrm rot="0">
            <a:off x="1516123" y="4897060"/>
            <a:ext cx="6697208" cy="3945588"/>
          </a:xfrm>
          <a:prstGeom prst="rect">
            <a:avLst/>
          </a:prstGeom>
        </p:spPr>
        <p:txBody>
          <a:bodyPr anchor="t" rtlCol="false" tIns="0" lIns="0" bIns="0" rIns="0">
            <a:spAutoFit/>
          </a:bodyPr>
          <a:lstStyle/>
          <a:p>
            <a:pPr algn="l">
              <a:lnSpc>
                <a:spcPts val="3960"/>
              </a:lnSpc>
            </a:pPr>
            <a:r>
              <a:rPr lang="en-US" b="true" sz="3300">
                <a:solidFill>
                  <a:srgbClr val="000000"/>
                </a:solidFill>
                <a:latin typeface="Calibri (MS) Bold"/>
                <a:ea typeface="Calibri (MS) Bold"/>
                <a:cs typeface="Calibri (MS) Bold"/>
                <a:sym typeface="Calibri (MS) Bold"/>
              </a:rPr>
              <a:t>Primary Focus: Retention </a:t>
            </a:r>
          </a:p>
          <a:p>
            <a:pPr algn="l">
              <a:lnSpc>
                <a:spcPts val="3600"/>
              </a:lnSpc>
            </a:pPr>
            <a:r>
              <a:rPr lang="en-US" sz="3000">
                <a:solidFill>
                  <a:srgbClr val="000000"/>
                </a:solidFill>
                <a:latin typeface="Calibri (MS)"/>
                <a:ea typeface="Calibri (MS)"/>
                <a:cs typeface="Calibri (MS)"/>
                <a:sym typeface="Calibri (MS)"/>
              </a:rPr>
              <a:t>The 23 inactive users should be re-engaged to reduce churn and improve platform activity</a:t>
            </a:r>
          </a:p>
          <a:p>
            <a:pPr algn="l">
              <a:lnSpc>
                <a:spcPts val="2520"/>
              </a:lnSpc>
            </a:pPr>
          </a:p>
          <a:p>
            <a:pPr algn="l">
              <a:lnSpc>
                <a:spcPts val="3960"/>
              </a:lnSpc>
            </a:pPr>
            <a:r>
              <a:rPr lang="en-US" b="true" sz="3300">
                <a:solidFill>
                  <a:srgbClr val="000000"/>
                </a:solidFill>
                <a:latin typeface="Calibri (MS) Bold"/>
                <a:ea typeface="Calibri (MS) Bold"/>
                <a:cs typeface="Calibri (MS) Bold"/>
                <a:sym typeface="Calibri (MS) Bold"/>
              </a:rPr>
              <a:t>Secondary Focus: Engagement </a:t>
            </a:r>
          </a:p>
          <a:p>
            <a:pPr algn="l">
              <a:lnSpc>
                <a:spcPts val="3600"/>
              </a:lnSpc>
            </a:pPr>
            <a:r>
              <a:rPr lang="en-US" sz="3000">
                <a:solidFill>
                  <a:srgbClr val="000000"/>
                </a:solidFill>
                <a:latin typeface="Calibri (MS)"/>
                <a:ea typeface="Calibri (MS)"/>
                <a:cs typeface="Calibri (MS)"/>
                <a:sym typeface="Calibri (MS)"/>
              </a:rPr>
              <a:t>To increase the activity levels of moderate active users</a:t>
            </a:r>
          </a:p>
        </p:txBody>
      </p:sp>
      <p:graphicFrame>
        <p:nvGraphicFramePr>
          <p:cNvPr name="Table 6" id="6"/>
          <p:cNvGraphicFramePr>
            <a:graphicFrameLocks noGrp="true"/>
          </p:cNvGraphicFramePr>
          <p:nvPr/>
        </p:nvGraphicFramePr>
        <p:xfrm>
          <a:off x="1424702" y="1991534"/>
          <a:ext cx="6534150" cy="1657350"/>
        </p:xfrm>
        <a:graphic>
          <a:graphicData uri="http://schemas.openxmlformats.org/drawingml/2006/table">
            <a:tbl>
              <a:tblPr/>
              <a:tblGrid>
                <a:gridCol w="3870518"/>
                <a:gridCol w="2663632"/>
              </a:tblGrid>
              <a:tr h="552450">
                <a:tc>
                  <a:txBody>
                    <a:bodyPr anchor="t" rtlCol="false"/>
                    <a:lstStyle/>
                    <a:p>
                      <a:pPr algn="l">
                        <a:lnSpc>
                          <a:spcPts val="3600"/>
                        </a:lnSpc>
                        <a:defRPr/>
                      </a:pPr>
                      <a:r>
                        <a:rPr lang="en-US" sz="3000">
                          <a:solidFill>
                            <a:srgbClr val="262626"/>
                          </a:solidFill>
                          <a:latin typeface="Arial"/>
                          <a:ea typeface="Arial"/>
                          <a:cs typeface="Arial"/>
                          <a:sym typeface="Arial"/>
                        </a:rPr>
                        <a:t>In Active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c>
                  <a:txBody>
                    <a:bodyPr anchor="t" rtlCol="false"/>
                    <a:lstStyle/>
                    <a:p>
                      <a:pPr algn="l">
                        <a:lnSpc>
                          <a:spcPts val="3600"/>
                        </a:lnSpc>
                        <a:defRPr/>
                      </a:pPr>
                      <a:r>
                        <a:rPr lang="en-US" sz="3000">
                          <a:solidFill>
                            <a:srgbClr val="262626"/>
                          </a:solidFill>
                          <a:latin typeface="Arial"/>
                          <a:ea typeface="Arial"/>
                          <a:cs typeface="Arial"/>
                          <a:sym typeface="Arial"/>
                        </a:rPr>
                        <a:t>23 Users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r>
              <a:tr h="552450">
                <a:tc>
                  <a:txBody>
                    <a:bodyPr anchor="t" rtlCol="false"/>
                    <a:lstStyle/>
                    <a:p>
                      <a:pPr algn="l">
                        <a:lnSpc>
                          <a:spcPts val="3600"/>
                        </a:lnSpc>
                        <a:defRPr/>
                      </a:pPr>
                      <a:r>
                        <a:rPr lang="en-US" sz="3000">
                          <a:solidFill>
                            <a:srgbClr val="262626"/>
                          </a:solidFill>
                          <a:latin typeface="Arial"/>
                          <a:ea typeface="Arial"/>
                          <a:cs typeface="Arial"/>
                          <a:sym typeface="Arial"/>
                        </a:rPr>
                        <a:t>Moderate Activity</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c>
                  <a:txBody>
                    <a:bodyPr anchor="t" rtlCol="false"/>
                    <a:lstStyle/>
                    <a:p>
                      <a:pPr algn="l">
                        <a:lnSpc>
                          <a:spcPts val="3600"/>
                        </a:lnSpc>
                        <a:defRPr/>
                      </a:pPr>
                      <a:r>
                        <a:rPr lang="en-US" sz="3000">
                          <a:solidFill>
                            <a:srgbClr val="262626"/>
                          </a:solidFill>
                          <a:latin typeface="Arial"/>
                          <a:ea typeface="Arial"/>
                          <a:cs typeface="Arial"/>
                          <a:sym typeface="Arial"/>
                        </a:rPr>
                        <a:t>47 Users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r>
              <a:tr h="552450">
                <a:tc>
                  <a:txBody>
                    <a:bodyPr anchor="t" rtlCol="false"/>
                    <a:lstStyle/>
                    <a:p>
                      <a:pPr algn="l">
                        <a:lnSpc>
                          <a:spcPts val="3600"/>
                        </a:lnSpc>
                        <a:defRPr/>
                      </a:pPr>
                      <a:r>
                        <a:rPr lang="en-US" sz="3000">
                          <a:solidFill>
                            <a:srgbClr val="262626"/>
                          </a:solidFill>
                          <a:latin typeface="Arial"/>
                          <a:ea typeface="Arial"/>
                          <a:cs typeface="Arial"/>
                          <a:sym typeface="Arial"/>
                        </a:rPr>
                        <a:t>Highly Active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c>
                  <a:txBody>
                    <a:bodyPr anchor="t" rtlCol="false"/>
                    <a:lstStyle/>
                    <a:p>
                      <a:pPr algn="l">
                        <a:lnSpc>
                          <a:spcPts val="3600"/>
                        </a:lnSpc>
                        <a:defRPr/>
                      </a:pPr>
                      <a:r>
                        <a:rPr lang="en-US" sz="3000">
                          <a:solidFill>
                            <a:srgbClr val="262626"/>
                          </a:solidFill>
                          <a:latin typeface="Arial"/>
                          <a:ea typeface="Arial"/>
                          <a:cs typeface="Arial"/>
                          <a:sym typeface="Arial"/>
                        </a:rPr>
                        <a:t>13 Users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r>
            </a:tbl>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2199456"/>
            <a:ext cx="8699325" cy="5888098"/>
            <a:chOff x="0" y="0"/>
            <a:chExt cx="11599100" cy="7850797"/>
          </a:xfrm>
        </p:grpSpPr>
        <p:sp>
          <p:nvSpPr>
            <p:cNvPr name="Freeform 3" id="3"/>
            <p:cNvSpPr/>
            <p:nvPr/>
          </p:nvSpPr>
          <p:spPr>
            <a:xfrm flipH="false" flipV="false" rot="0">
              <a:off x="0" y="0"/>
              <a:ext cx="11599037" cy="7850759"/>
            </a:xfrm>
            <a:custGeom>
              <a:avLst/>
              <a:gdLst/>
              <a:ahLst/>
              <a:cxnLst/>
              <a:rect r="r" b="b" t="t" l="l"/>
              <a:pathLst>
                <a:path h="7850759" w="11599037">
                  <a:moveTo>
                    <a:pt x="0" y="0"/>
                  </a:moveTo>
                  <a:lnTo>
                    <a:pt x="11599037" y="0"/>
                  </a:lnTo>
                  <a:lnTo>
                    <a:pt x="11599037" y="7850759"/>
                  </a:lnTo>
                  <a:lnTo>
                    <a:pt x="0" y="7850759"/>
                  </a:lnTo>
                  <a:lnTo>
                    <a:pt x="0" y="0"/>
                  </a:lnTo>
                  <a:close/>
                </a:path>
              </a:pathLst>
            </a:custGeom>
            <a:blipFill>
              <a:blip r:embed="rId2"/>
              <a:stretch>
                <a:fillRect l="0" t="0" r="-26" b="0"/>
              </a:stretch>
            </a:blipFill>
          </p:spPr>
        </p:sp>
      </p:grpSp>
      <p:sp>
        <p:nvSpPr>
          <p:cNvPr name="TextBox 4" id="4"/>
          <p:cNvSpPr txBox="true"/>
          <p:nvPr/>
        </p:nvSpPr>
        <p:spPr>
          <a:xfrm rot="0">
            <a:off x="7430616" y="730172"/>
            <a:ext cx="15201595" cy="871490"/>
          </a:xfrm>
          <a:prstGeom prst="rect">
            <a:avLst/>
          </a:prstGeom>
        </p:spPr>
        <p:txBody>
          <a:bodyPr anchor="t" rtlCol="false" tIns="0" lIns="0" bIns="0" rIns="0">
            <a:spAutoFit/>
          </a:bodyPr>
          <a:lstStyle/>
          <a:p>
            <a:pPr algn="l">
              <a:lnSpc>
                <a:spcPts val="5759"/>
              </a:lnSpc>
            </a:pPr>
            <a:r>
              <a:rPr lang="en-US" b="true" sz="4800" u="sng">
                <a:solidFill>
                  <a:srgbClr val="262626"/>
                </a:solidFill>
                <a:latin typeface="Calibri (MS) Bold"/>
                <a:ea typeface="Calibri (MS) Bold"/>
                <a:cs typeface="Calibri (MS) Bold"/>
                <a:sym typeface="Calibri (MS) Bold"/>
              </a:rPr>
              <a:t>5. ENGAGEMENT</a:t>
            </a:r>
          </a:p>
        </p:txBody>
      </p:sp>
      <p:sp>
        <p:nvSpPr>
          <p:cNvPr name="TextBox 5" id="5"/>
          <p:cNvSpPr txBox="true"/>
          <p:nvPr/>
        </p:nvSpPr>
        <p:spPr>
          <a:xfrm rot="0">
            <a:off x="1478547" y="4883525"/>
            <a:ext cx="6959841" cy="3483931"/>
          </a:xfrm>
          <a:prstGeom prst="rect">
            <a:avLst/>
          </a:prstGeom>
        </p:spPr>
        <p:txBody>
          <a:bodyPr anchor="t" rtlCol="false" tIns="0" lIns="0" bIns="0" rIns="0">
            <a:spAutoFit/>
          </a:bodyPr>
          <a:lstStyle/>
          <a:p>
            <a:pPr algn="l">
              <a:lnSpc>
                <a:spcPts val="3960"/>
              </a:lnSpc>
            </a:pPr>
            <a:r>
              <a:rPr lang="en-US" b="true" sz="3300">
                <a:solidFill>
                  <a:srgbClr val="000000"/>
                </a:solidFill>
                <a:latin typeface="Calibri (MS) Bold"/>
                <a:ea typeface="Calibri (MS) Bold"/>
                <a:cs typeface="Calibri (MS) Bold"/>
                <a:sym typeface="Calibri (MS) Bold"/>
              </a:rPr>
              <a:t>Primary Focus: Retention </a:t>
            </a:r>
          </a:p>
          <a:p>
            <a:pPr algn="l">
              <a:lnSpc>
                <a:spcPts val="3600"/>
              </a:lnSpc>
            </a:pPr>
            <a:r>
              <a:rPr lang="en-US" sz="3000">
                <a:solidFill>
                  <a:srgbClr val="000000"/>
                </a:solidFill>
                <a:latin typeface="Calibri (MS)"/>
                <a:ea typeface="Calibri (MS)"/>
                <a:cs typeface="Calibri (MS)"/>
                <a:sym typeface="Calibri (MS)"/>
              </a:rPr>
              <a:t>It is necessary to address the significant number of users with zero engagement.</a:t>
            </a:r>
          </a:p>
          <a:p>
            <a:pPr algn="l">
              <a:lnSpc>
                <a:spcPts val="2520"/>
              </a:lnSpc>
            </a:pPr>
          </a:p>
          <a:p>
            <a:pPr algn="l">
              <a:lnSpc>
                <a:spcPts val="3960"/>
              </a:lnSpc>
            </a:pPr>
            <a:r>
              <a:rPr lang="en-US" b="true" sz="3300">
                <a:solidFill>
                  <a:srgbClr val="000000"/>
                </a:solidFill>
                <a:latin typeface="Calibri (MS) Bold"/>
                <a:ea typeface="Calibri (MS) Bold"/>
                <a:cs typeface="Calibri (MS) Bold"/>
                <a:sym typeface="Calibri (MS) Bold"/>
              </a:rPr>
              <a:t>Secondary Focus: Engagement </a:t>
            </a:r>
          </a:p>
          <a:p>
            <a:pPr algn="l">
              <a:lnSpc>
                <a:spcPts val="3600"/>
              </a:lnSpc>
            </a:pPr>
            <a:r>
              <a:rPr lang="en-US" sz="3000">
                <a:solidFill>
                  <a:srgbClr val="000000"/>
                </a:solidFill>
                <a:latin typeface="Calibri (MS)"/>
                <a:ea typeface="Calibri (MS)"/>
                <a:cs typeface="Calibri (MS)"/>
                <a:sym typeface="Calibri (MS)"/>
              </a:rPr>
              <a:t>To increase the activity levels of moderately engaged users</a:t>
            </a:r>
          </a:p>
        </p:txBody>
      </p:sp>
      <p:graphicFrame>
        <p:nvGraphicFramePr>
          <p:cNvPr name="Table 6" id="6"/>
          <p:cNvGraphicFramePr>
            <a:graphicFrameLocks noGrp="true"/>
          </p:cNvGraphicFramePr>
          <p:nvPr/>
        </p:nvGraphicFramePr>
        <p:xfrm>
          <a:off x="1387124" y="1845096"/>
          <a:ext cx="6534150" cy="1657350"/>
        </p:xfrm>
        <a:graphic>
          <a:graphicData uri="http://schemas.openxmlformats.org/drawingml/2006/table">
            <a:tbl>
              <a:tblPr/>
              <a:tblGrid>
                <a:gridCol w="3870518"/>
                <a:gridCol w="2663632"/>
              </a:tblGrid>
              <a:tr h="552450">
                <a:tc>
                  <a:txBody>
                    <a:bodyPr anchor="t" rtlCol="false"/>
                    <a:lstStyle/>
                    <a:p>
                      <a:pPr algn="l">
                        <a:lnSpc>
                          <a:spcPts val="3600"/>
                        </a:lnSpc>
                        <a:defRPr/>
                      </a:pPr>
                      <a:r>
                        <a:rPr lang="en-US" sz="3000">
                          <a:solidFill>
                            <a:srgbClr val="262626"/>
                          </a:solidFill>
                          <a:latin typeface="Arial"/>
                          <a:ea typeface="Arial"/>
                          <a:cs typeface="Arial"/>
                          <a:sym typeface="Arial"/>
                        </a:rPr>
                        <a:t>In Active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c>
                  <a:txBody>
                    <a:bodyPr anchor="t" rtlCol="false"/>
                    <a:lstStyle/>
                    <a:p>
                      <a:pPr algn="l">
                        <a:lnSpc>
                          <a:spcPts val="3600"/>
                        </a:lnSpc>
                        <a:defRPr/>
                      </a:pPr>
                      <a:r>
                        <a:rPr lang="en-US" sz="3000">
                          <a:solidFill>
                            <a:srgbClr val="262626"/>
                          </a:solidFill>
                          <a:latin typeface="Arial"/>
                          <a:ea typeface="Arial"/>
                          <a:cs typeface="Arial"/>
                          <a:sym typeface="Arial"/>
                        </a:rPr>
                        <a:t>26 Users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r>
              <a:tr h="552450">
                <a:tc>
                  <a:txBody>
                    <a:bodyPr anchor="t" rtlCol="false"/>
                    <a:lstStyle/>
                    <a:p>
                      <a:pPr algn="l">
                        <a:lnSpc>
                          <a:spcPts val="3600"/>
                        </a:lnSpc>
                        <a:defRPr/>
                      </a:pPr>
                      <a:r>
                        <a:rPr lang="en-US" sz="3000">
                          <a:solidFill>
                            <a:srgbClr val="262626"/>
                          </a:solidFill>
                          <a:latin typeface="Arial"/>
                          <a:ea typeface="Arial"/>
                          <a:cs typeface="Arial"/>
                          <a:sym typeface="Arial"/>
                        </a:rPr>
                        <a:t>Moderate Activity</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c>
                  <a:txBody>
                    <a:bodyPr anchor="t" rtlCol="false"/>
                    <a:lstStyle/>
                    <a:p>
                      <a:pPr algn="l">
                        <a:lnSpc>
                          <a:spcPts val="3600"/>
                        </a:lnSpc>
                        <a:defRPr/>
                      </a:pPr>
                      <a:r>
                        <a:rPr lang="en-US" sz="3000">
                          <a:solidFill>
                            <a:srgbClr val="262626"/>
                          </a:solidFill>
                          <a:latin typeface="Arial"/>
                          <a:ea typeface="Arial"/>
                          <a:cs typeface="Arial"/>
                          <a:sym typeface="Arial"/>
                        </a:rPr>
                        <a:t>58 Users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r>
              <a:tr h="552450">
                <a:tc>
                  <a:txBody>
                    <a:bodyPr anchor="t" rtlCol="false"/>
                    <a:lstStyle/>
                    <a:p>
                      <a:pPr algn="l">
                        <a:lnSpc>
                          <a:spcPts val="3600"/>
                        </a:lnSpc>
                        <a:defRPr/>
                      </a:pPr>
                      <a:r>
                        <a:rPr lang="en-US" sz="3000">
                          <a:solidFill>
                            <a:srgbClr val="262626"/>
                          </a:solidFill>
                          <a:latin typeface="Arial"/>
                          <a:ea typeface="Arial"/>
                          <a:cs typeface="Arial"/>
                          <a:sym typeface="Arial"/>
                        </a:rPr>
                        <a:t>Highly Active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c>
                  <a:txBody>
                    <a:bodyPr anchor="t" rtlCol="false"/>
                    <a:lstStyle/>
                    <a:p>
                      <a:pPr algn="l">
                        <a:lnSpc>
                          <a:spcPts val="3600"/>
                        </a:lnSpc>
                        <a:defRPr/>
                      </a:pPr>
                      <a:r>
                        <a:rPr lang="en-US" sz="3000">
                          <a:solidFill>
                            <a:srgbClr val="262626"/>
                          </a:solidFill>
                          <a:latin typeface="Arial"/>
                          <a:ea typeface="Arial"/>
                          <a:cs typeface="Arial"/>
                          <a:sym typeface="Arial"/>
                        </a:rPr>
                        <a:t>16 Users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r>
            </a:tbl>
          </a:graphicData>
        </a:graphic>
      </p:graphicFrame>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02069" y="425787"/>
            <a:ext cx="17483861" cy="871490"/>
          </a:xfrm>
          <a:prstGeom prst="rect">
            <a:avLst/>
          </a:prstGeom>
        </p:spPr>
        <p:txBody>
          <a:bodyPr anchor="t" rtlCol="false" tIns="0" lIns="0" bIns="0" rIns="0">
            <a:spAutoFit/>
          </a:bodyPr>
          <a:lstStyle/>
          <a:p>
            <a:pPr algn="l">
              <a:lnSpc>
                <a:spcPts val="5759"/>
              </a:lnSpc>
            </a:pPr>
            <a:r>
              <a:rPr lang="en-US" b="true" sz="4800" u="sng">
                <a:solidFill>
                  <a:srgbClr val="262626"/>
                </a:solidFill>
                <a:latin typeface="Calibri (MS) Bold"/>
                <a:ea typeface="Calibri (MS) Bold"/>
                <a:cs typeface="Calibri (MS) Bold"/>
                <a:sym typeface="Calibri (MS) Bold"/>
              </a:rPr>
              <a:t>ENGAGEMENT BASED ON JOINING YEAR AND FOLLOWER COUNT</a:t>
            </a:r>
          </a:p>
        </p:txBody>
      </p:sp>
      <p:grpSp>
        <p:nvGrpSpPr>
          <p:cNvPr name="Group 3" id="3"/>
          <p:cNvGrpSpPr/>
          <p:nvPr/>
        </p:nvGrpSpPr>
        <p:grpSpPr>
          <a:xfrm rot="0">
            <a:off x="6698913" y="2498941"/>
            <a:ext cx="11278438" cy="6413935"/>
            <a:chOff x="0" y="0"/>
            <a:chExt cx="15037918" cy="8551913"/>
          </a:xfrm>
        </p:grpSpPr>
        <p:sp>
          <p:nvSpPr>
            <p:cNvPr name="Freeform 4" id="4"/>
            <p:cNvSpPr/>
            <p:nvPr/>
          </p:nvSpPr>
          <p:spPr>
            <a:xfrm flipH="false" flipV="false" rot="0">
              <a:off x="0" y="0"/>
              <a:ext cx="15037943" cy="8551926"/>
            </a:xfrm>
            <a:custGeom>
              <a:avLst/>
              <a:gdLst/>
              <a:ahLst/>
              <a:cxnLst/>
              <a:rect r="r" b="b" t="t" l="l"/>
              <a:pathLst>
                <a:path h="8551926" w="15037943">
                  <a:moveTo>
                    <a:pt x="0" y="0"/>
                  </a:moveTo>
                  <a:lnTo>
                    <a:pt x="15037943" y="0"/>
                  </a:lnTo>
                  <a:lnTo>
                    <a:pt x="15037943" y="8551926"/>
                  </a:lnTo>
                  <a:lnTo>
                    <a:pt x="0" y="8551926"/>
                  </a:lnTo>
                  <a:lnTo>
                    <a:pt x="0" y="0"/>
                  </a:lnTo>
                  <a:close/>
                </a:path>
              </a:pathLst>
            </a:custGeom>
            <a:blipFill>
              <a:blip r:embed="rId2"/>
              <a:stretch>
                <a:fillRect l="0" t="0" r="-62" b="0"/>
              </a:stretch>
            </a:blipFill>
          </p:spPr>
        </p:sp>
      </p:grpSp>
      <p:sp>
        <p:nvSpPr>
          <p:cNvPr name="TextBox 5" id="5"/>
          <p:cNvSpPr txBox="true"/>
          <p:nvPr/>
        </p:nvSpPr>
        <p:spPr>
          <a:xfrm rot="0">
            <a:off x="999563" y="2052457"/>
            <a:ext cx="4564513" cy="5653754"/>
          </a:xfrm>
          <a:prstGeom prst="rect">
            <a:avLst/>
          </a:prstGeom>
        </p:spPr>
        <p:txBody>
          <a:bodyPr anchor="t" rtlCol="false" tIns="0" lIns="0" bIns="0" rIns="0">
            <a:spAutoFit/>
          </a:bodyPr>
          <a:lstStyle/>
          <a:p>
            <a:pPr algn="l">
              <a:lnSpc>
                <a:spcPts val="3600"/>
              </a:lnSpc>
            </a:pPr>
            <a:r>
              <a:rPr lang="en-US" b="true" sz="3000">
                <a:solidFill>
                  <a:srgbClr val="000000"/>
                </a:solidFill>
                <a:latin typeface="Calibri (MS) Bold"/>
                <a:ea typeface="Calibri (MS) Bold"/>
                <a:cs typeface="Calibri (MS) Bold"/>
                <a:sym typeface="Calibri (MS) Bold"/>
              </a:rPr>
              <a:t>Newer users(2017) are more actively contributing content</a:t>
            </a:r>
          </a:p>
          <a:p>
            <a:pPr algn="l">
              <a:lnSpc>
                <a:spcPts val="2520"/>
              </a:lnSpc>
            </a:pPr>
          </a:p>
          <a:p>
            <a:pPr algn="l" marL="542925" indent="-271462" lvl="1">
              <a:lnSpc>
                <a:spcPts val="3600"/>
              </a:lnSpc>
              <a:buFont typeface="Arial"/>
              <a:buChar char="•"/>
            </a:pPr>
            <a:r>
              <a:rPr lang="en-US" sz="3000">
                <a:solidFill>
                  <a:srgbClr val="000000"/>
                </a:solidFill>
                <a:latin typeface="Calibri (MS)"/>
                <a:ea typeface="Calibri (MS)"/>
                <a:cs typeface="Calibri (MS)"/>
                <a:sym typeface="Calibri (MS)"/>
              </a:rPr>
              <a:t>Users from the 2017 cohort with 76 followers have the highest average engagement </a:t>
            </a:r>
          </a:p>
          <a:p>
            <a:pPr algn="l" marL="380048" indent="-190024" lvl="1">
              <a:lnSpc>
                <a:spcPts val="2520"/>
              </a:lnSpc>
            </a:pPr>
          </a:p>
          <a:p>
            <a:pPr algn="l" marL="542925" indent="-271462" lvl="1">
              <a:lnSpc>
                <a:spcPts val="3600"/>
              </a:lnSpc>
              <a:buFont typeface="Arial"/>
              <a:buChar char="•"/>
            </a:pPr>
            <a:r>
              <a:rPr lang="en-US" sz="3000">
                <a:solidFill>
                  <a:srgbClr val="000000"/>
                </a:solidFill>
                <a:latin typeface="Calibri (MS)"/>
                <a:ea typeface="Calibri (MS)"/>
                <a:cs typeface="Calibri (MS)"/>
                <a:sym typeface="Calibri (MS)"/>
              </a:rPr>
              <a:t>2017 cohort with 77 followers shows higher average posting activity </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247849" y="942975"/>
            <a:ext cx="16892616" cy="871490"/>
          </a:xfrm>
          <a:prstGeom prst="rect">
            <a:avLst/>
          </a:prstGeom>
        </p:spPr>
        <p:txBody>
          <a:bodyPr anchor="t" rtlCol="false" tIns="0" lIns="0" bIns="0" rIns="0">
            <a:spAutoFit/>
          </a:bodyPr>
          <a:lstStyle/>
          <a:p>
            <a:pPr algn="l">
              <a:lnSpc>
                <a:spcPts val="5759"/>
              </a:lnSpc>
            </a:pPr>
            <a:r>
              <a:rPr lang="en-US" b="true" sz="4800" u="sng">
                <a:solidFill>
                  <a:srgbClr val="262626"/>
                </a:solidFill>
                <a:latin typeface="Calibri (MS) Bold"/>
                <a:ea typeface="Calibri (MS) Bold"/>
                <a:cs typeface="Calibri (MS) Bold"/>
                <a:sym typeface="Calibri (MS) Bold"/>
              </a:rPr>
              <a:t>POTENTIAL INFLUENCERS OR BRAND AMBASSADOR </a:t>
            </a:r>
          </a:p>
        </p:txBody>
      </p:sp>
      <p:sp>
        <p:nvSpPr>
          <p:cNvPr name="TextBox 3" id="3"/>
          <p:cNvSpPr txBox="true"/>
          <p:nvPr/>
        </p:nvSpPr>
        <p:spPr>
          <a:xfrm rot="0">
            <a:off x="1568253" y="5956373"/>
            <a:ext cx="15475925" cy="2580799"/>
          </a:xfrm>
          <a:prstGeom prst="rect">
            <a:avLst/>
          </a:prstGeom>
        </p:spPr>
        <p:txBody>
          <a:bodyPr anchor="t" rtlCol="false" tIns="0" lIns="0" bIns="0" rIns="0">
            <a:spAutoFit/>
          </a:bodyPr>
          <a:lstStyle/>
          <a:p>
            <a:pPr algn="l" marL="542925" indent="-271462" lvl="1">
              <a:lnSpc>
                <a:spcPts val="3852"/>
              </a:lnSpc>
              <a:buFont typeface="Arial"/>
              <a:buChar char="•"/>
            </a:pPr>
            <a:r>
              <a:rPr lang="en-US" sz="3000">
                <a:solidFill>
                  <a:srgbClr val="000000"/>
                </a:solidFill>
                <a:latin typeface="Calibri (MS)"/>
                <a:ea typeface="Calibri (MS)"/>
                <a:cs typeface="Calibri (MS)"/>
                <a:sym typeface="Calibri (MS)"/>
              </a:rPr>
              <a:t>Users with a </a:t>
            </a:r>
            <a:r>
              <a:rPr lang="en-US" b="true" sz="3000">
                <a:solidFill>
                  <a:srgbClr val="000000"/>
                </a:solidFill>
                <a:latin typeface="Calibri (MS) Bold"/>
                <a:ea typeface="Calibri (MS) Bold"/>
                <a:cs typeface="Calibri (MS) Bold"/>
                <a:sym typeface="Calibri (MS) Bold"/>
              </a:rPr>
              <a:t>High Follower Count and High Engagement</a:t>
            </a:r>
            <a:r>
              <a:rPr lang="en-US" sz="3000">
                <a:solidFill>
                  <a:srgbClr val="000000"/>
                </a:solidFill>
                <a:latin typeface="Calibri (MS)"/>
                <a:ea typeface="Calibri (MS)"/>
                <a:cs typeface="Calibri (MS)"/>
                <a:sym typeface="Calibri (MS)"/>
              </a:rPr>
              <a:t> are prime candidates.</a:t>
            </a:r>
          </a:p>
          <a:p>
            <a:pPr algn="l" marL="542925" indent="-271462" lvl="1">
              <a:lnSpc>
                <a:spcPts val="3852"/>
              </a:lnSpc>
              <a:buFont typeface="Arial"/>
              <a:buChar char="•"/>
            </a:pPr>
            <a:r>
              <a:rPr lang="en-US" sz="3000">
                <a:solidFill>
                  <a:srgbClr val="000000"/>
                </a:solidFill>
                <a:latin typeface="Calibri (MS)"/>
                <a:ea typeface="Calibri (MS)"/>
                <a:cs typeface="Calibri (MS)"/>
                <a:sym typeface="Calibri (MS)"/>
              </a:rPr>
              <a:t>Users who have </a:t>
            </a:r>
            <a:r>
              <a:rPr lang="en-US" b="true" sz="3000">
                <a:solidFill>
                  <a:srgbClr val="000000"/>
                </a:solidFill>
                <a:latin typeface="Calibri (MS) Bold"/>
                <a:ea typeface="Calibri (MS) Bold"/>
                <a:cs typeface="Calibri (MS) Bold"/>
                <a:sym typeface="Calibri (MS) Bold"/>
              </a:rPr>
              <a:t>Consistency in Engagement </a:t>
            </a:r>
            <a:r>
              <a:rPr lang="en-US" sz="3000">
                <a:solidFill>
                  <a:srgbClr val="000000"/>
                </a:solidFill>
                <a:latin typeface="Calibri (MS)"/>
                <a:ea typeface="Calibri (MS)"/>
                <a:cs typeface="Calibri (MS)"/>
                <a:sym typeface="Calibri (MS)"/>
              </a:rPr>
              <a:t>across multiple posts as opposed to one-time viral activity.</a:t>
            </a:r>
          </a:p>
          <a:p>
            <a:pPr algn="l" marL="542925" indent="-271462" lvl="1">
              <a:lnSpc>
                <a:spcPts val="3852"/>
              </a:lnSpc>
              <a:buFont typeface="Arial"/>
              <a:buChar char="•"/>
            </a:pPr>
            <a:r>
              <a:rPr lang="en-US" sz="3000">
                <a:solidFill>
                  <a:srgbClr val="000000"/>
                </a:solidFill>
                <a:latin typeface="Calibri (MS)"/>
                <a:ea typeface="Calibri (MS)"/>
                <a:cs typeface="Calibri (MS)"/>
                <a:sym typeface="Calibri (MS)"/>
              </a:rPr>
              <a:t>We should focus on </a:t>
            </a:r>
            <a:r>
              <a:rPr lang="en-US" b="true" sz="3000">
                <a:solidFill>
                  <a:srgbClr val="000000"/>
                </a:solidFill>
                <a:latin typeface="Calibri (MS) Bold"/>
                <a:ea typeface="Calibri (MS) Bold"/>
                <a:cs typeface="Calibri (MS) Bold"/>
                <a:sym typeface="Calibri (MS) Bold"/>
              </a:rPr>
              <a:t>Users with Balanced Engagement</a:t>
            </a:r>
            <a:r>
              <a:rPr lang="en-US" sz="3000">
                <a:solidFill>
                  <a:srgbClr val="000000"/>
                </a:solidFill>
                <a:latin typeface="Calibri (MS)"/>
                <a:ea typeface="Calibri (MS)"/>
                <a:cs typeface="Calibri (MS)"/>
                <a:sym typeface="Calibri (MS)"/>
              </a:rPr>
              <a:t>, as these users are more likely to influence their network and drive engagement for Instagram initiatives.</a:t>
            </a:r>
          </a:p>
        </p:txBody>
      </p:sp>
      <p:graphicFrame>
        <p:nvGraphicFramePr>
          <p:cNvPr name="Table 4" id="4"/>
          <p:cNvGraphicFramePr>
            <a:graphicFrameLocks noGrp="true"/>
          </p:cNvGraphicFramePr>
          <p:nvPr/>
        </p:nvGraphicFramePr>
        <p:xfrm>
          <a:off x="2147168" y="2140557"/>
          <a:ext cx="13963650" cy="2762250"/>
        </p:xfrm>
        <a:graphic>
          <a:graphicData uri="http://schemas.openxmlformats.org/drawingml/2006/table">
            <a:tbl>
              <a:tblPr/>
              <a:tblGrid>
                <a:gridCol w="969729"/>
                <a:gridCol w="4168956"/>
                <a:gridCol w="2415660"/>
                <a:gridCol w="2571513"/>
                <a:gridCol w="3837792"/>
              </a:tblGrid>
              <a:tr h="552450">
                <a:tc>
                  <a:txBody>
                    <a:bodyPr anchor="t" rtlCol="false"/>
                    <a:lstStyle/>
                    <a:p>
                      <a:pPr algn="l">
                        <a:lnSpc>
                          <a:spcPts val="3240"/>
                        </a:lnSpc>
                        <a:defRPr/>
                      </a:pPr>
                      <a:r>
                        <a:rPr lang="en-US" b="true" sz="2700">
                          <a:solidFill>
                            <a:srgbClr val="3F3F3F"/>
                          </a:solidFill>
                          <a:latin typeface="Arial Bold"/>
                          <a:ea typeface="Arial Bold"/>
                          <a:cs typeface="Arial Bold"/>
                          <a:sym typeface="Arial Bold"/>
                        </a:rPr>
                        <a:t>ID</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c>
                  <a:txBody>
                    <a:bodyPr anchor="t" rtlCol="false"/>
                    <a:lstStyle/>
                    <a:p>
                      <a:pPr algn="l">
                        <a:lnSpc>
                          <a:spcPts val="3240"/>
                        </a:lnSpc>
                        <a:defRPr/>
                      </a:pPr>
                      <a:r>
                        <a:rPr lang="en-US" b="true" sz="2700">
                          <a:solidFill>
                            <a:srgbClr val="3F3F3F"/>
                          </a:solidFill>
                          <a:latin typeface="Arial Bold"/>
                          <a:ea typeface="Arial Bold"/>
                          <a:cs typeface="Arial Bold"/>
                          <a:sym typeface="Arial Bold"/>
                        </a:rPr>
                        <a:t>USERNAME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c>
                  <a:txBody>
                    <a:bodyPr anchor="t" rtlCol="false"/>
                    <a:lstStyle/>
                    <a:p>
                      <a:pPr algn="l">
                        <a:lnSpc>
                          <a:spcPts val="3240"/>
                        </a:lnSpc>
                        <a:defRPr/>
                      </a:pPr>
                      <a:r>
                        <a:rPr lang="en-US" b="true" sz="2700">
                          <a:solidFill>
                            <a:srgbClr val="3F3F3F"/>
                          </a:solidFill>
                          <a:latin typeface="Arial Bold"/>
                          <a:ea typeface="Arial Bold"/>
                          <a:cs typeface="Arial Bold"/>
                          <a:sym typeface="Arial Bold"/>
                        </a:rPr>
                        <a:t>FOLLOWER </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c>
                  <a:txBody>
                    <a:bodyPr anchor="t" rtlCol="false"/>
                    <a:lstStyle/>
                    <a:p>
                      <a:pPr algn="l">
                        <a:lnSpc>
                          <a:spcPts val="3240"/>
                        </a:lnSpc>
                        <a:defRPr/>
                      </a:pPr>
                      <a:r>
                        <a:rPr lang="en-US" b="true" sz="2700">
                          <a:solidFill>
                            <a:srgbClr val="3F3F3F"/>
                          </a:solidFill>
                          <a:latin typeface="Arial Bold"/>
                          <a:ea typeface="Arial Bold"/>
                          <a:cs typeface="Arial Bold"/>
                          <a:sym typeface="Arial Bold"/>
                        </a:rPr>
                        <a:t>TOTAL LIKES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c>
                  <a:txBody>
                    <a:bodyPr anchor="t" rtlCol="false"/>
                    <a:lstStyle/>
                    <a:p>
                      <a:pPr algn="l">
                        <a:lnSpc>
                          <a:spcPts val="3240"/>
                        </a:lnSpc>
                        <a:defRPr/>
                      </a:pPr>
                      <a:r>
                        <a:rPr lang="en-US" b="true" sz="2700">
                          <a:solidFill>
                            <a:srgbClr val="3F3F3F"/>
                          </a:solidFill>
                          <a:latin typeface="Arial Bold"/>
                          <a:ea typeface="Arial Bold"/>
                          <a:cs typeface="Arial Bold"/>
                          <a:sym typeface="Arial Bold"/>
                        </a:rPr>
                        <a:t>AVG ENGAGEMENT RATE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8E2F3"/>
                    </a:solidFill>
                  </a:tcPr>
                </a:tc>
              </a:tr>
              <a:tr h="552450">
                <a:tc>
                  <a:txBody>
                    <a:bodyPr anchor="t" rtlCol="false"/>
                    <a:lstStyle/>
                    <a:p>
                      <a:pPr algn="l">
                        <a:lnSpc>
                          <a:spcPts val="3240"/>
                        </a:lnSpc>
                        <a:defRPr/>
                      </a:pPr>
                      <a:r>
                        <a:rPr lang="en-US" sz="2700">
                          <a:solidFill>
                            <a:srgbClr val="3F3F3F"/>
                          </a:solidFill>
                          <a:latin typeface="Arial"/>
                          <a:ea typeface="Arial"/>
                          <a:cs typeface="Arial"/>
                          <a:sym typeface="Arial"/>
                        </a:rPr>
                        <a:t>23</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FFFFFF"/>
                          </a:solidFill>
                          <a:latin typeface="Arial"/>
                          <a:ea typeface="Arial"/>
                          <a:cs typeface="Arial"/>
                          <a:sym typeface="Arial"/>
                        </a:rPr>
                        <a:t>Eveline95</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FFFFFF"/>
                          </a:solidFill>
                          <a:latin typeface="Arial"/>
                          <a:ea typeface="Arial"/>
                          <a:cs typeface="Arial"/>
                          <a:sym typeface="Arial"/>
                        </a:rPr>
                        <a:t>77</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FFFFFF"/>
                          </a:solidFill>
                          <a:latin typeface="Arial"/>
                          <a:ea typeface="Arial"/>
                          <a:cs typeface="Arial"/>
                          <a:sym typeface="Arial"/>
                        </a:rPr>
                        <a:t>749</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FFFFFF"/>
                          </a:solidFill>
                          <a:latin typeface="Arial"/>
                          <a:ea typeface="Arial"/>
                          <a:cs typeface="Arial"/>
                          <a:sym typeface="Arial"/>
                        </a:rPr>
                        <a:t>9.8</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2450">
                <a:tc>
                  <a:txBody>
                    <a:bodyPr anchor="t" rtlCol="false"/>
                    <a:lstStyle/>
                    <a:p>
                      <a:pPr algn="l">
                        <a:lnSpc>
                          <a:spcPts val="3240"/>
                        </a:lnSpc>
                        <a:defRPr/>
                      </a:pPr>
                      <a:r>
                        <a:rPr lang="en-US" sz="2700">
                          <a:solidFill>
                            <a:srgbClr val="000000"/>
                          </a:solidFill>
                          <a:latin typeface="Arial"/>
                          <a:ea typeface="Arial"/>
                          <a:cs typeface="Arial"/>
                          <a:sym typeface="Arial"/>
                        </a:rPr>
                        <a:t>59</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EBF5"/>
                    </a:solidFill>
                  </a:tcPr>
                </a:tc>
                <a:tc>
                  <a:txBody>
                    <a:bodyPr anchor="t" rtlCol="false"/>
                    <a:lstStyle/>
                    <a:p>
                      <a:pPr algn="l">
                        <a:lnSpc>
                          <a:spcPts val="3240"/>
                        </a:lnSpc>
                        <a:defRPr/>
                      </a:pPr>
                      <a:r>
                        <a:rPr lang="en-US" sz="2700">
                          <a:solidFill>
                            <a:srgbClr val="000000"/>
                          </a:solidFill>
                          <a:latin typeface="Arial"/>
                          <a:ea typeface="Arial"/>
                          <a:cs typeface="Arial"/>
                          <a:sym typeface="Arial"/>
                        </a:rPr>
                        <a:t>Cesar93</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EBF5"/>
                    </a:solidFill>
                  </a:tcPr>
                </a:tc>
                <a:tc>
                  <a:txBody>
                    <a:bodyPr anchor="t" rtlCol="false"/>
                    <a:lstStyle/>
                    <a:p>
                      <a:pPr algn="l">
                        <a:lnSpc>
                          <a:spcPts val="3240"/>
                        </a:lnSpc>
                        <a:defRPr/>
                      </a:pPr>
                      <a:r>
                        <a:rPr lang="en-US" sz="2700">
                          <a:solidFill>
                            <a:srgbClr val="000000"/>
                          </a:solidFill>
                          <a:latin typeface="Arial"/>
                          <a:ea typeface="Arial"/>
                          <a:cs typeface="Arial"/>
                          <a:sym typeface="Arial"/>
                        </a:rPr>
                        <a:t>77</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EBF5"/>
                    </a:solidFill>
                  </a:tcPr>
                </a:tc>
                <a:tc>
                  <a:txBody>
                    <a:bodyPr anchor="t" rtlCol="false"/>
                    <a:lstStyle/>
                    <a:p>
                      <a:pPr algn="l">
                        <a:lnSpc>
                          <a:spcPts val="3240"/>
                        </a:lnSpc>
                        <a:defRPr/>
                      </a:pPr>
                      <a:r>
                        <a:rPr lang="en-US" sz="2700">
                          <a:solidFill>
                            <a:srgbClr val="000000"/>
                          </a:solidFill>
                          <a:latin typeface="Arial"/>
                          <a:ea typeface="Arial"/>
                          <a:cs typeface="Arial"/>
                          <a:sym typeface="Arial"/>
                        </a:rPr>
                        <a:t>646</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EBF5"/>
                    </a:solidFill>
                  </a:tcPr>
                </a:tc>
                <a:tc>
                  <a:txBody>
                    <a:bodyPr anchor="t" rtlCol="false"/>
                    <a:lstStyle/>
                    <a:p>
                      <a:pPr algn="l">
                        <a:lnSpc>
                          <a:spcPts val="3240"/>
                        </a:lnSpc>
                        <a:defRPr/>
                      </a:pPr>
                      <a:r>
                        <a:rPr lang="en-US" sz="2700">
                          <a:solidFill>
                            <a:srgbClr val="000000"/>
                          </a:solidFill>
                          <a:latin typeface="Arial"/>
                          <a:ea typeface="Arial"/>
                          <a:cs typeface="Arial"/>
                          <a:sym typeface="Arial"/>
                        </a:rPr>
                        <a:t>8.4</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EBF5"/>
                    </a:solidFill>
                  </a:tcPr>
                </a:tc>
              </a:tr>
              <a:tr h="552450">
                <a:tc>
                  <a:txBody>
                    <a:bodyPr anchor="t" rtlCol="false"/>
                    <a:lstStyle/>
                    <a:p>
                      <a:pPr algn="l">
                        <a:lnSpc>
                          <a:spcPts val="3240"/>
                        </a:lnSpc>
                        <a:defRPr/>
                      </a:pPr>
                      <a:r>
                        <a:rPr lang="en-US" sz="2700">
                          <a:solidFill>
                            <a:srgbClr val="FFFFFF"/>
                          </a:solidFill>
                          <a:latin typeface="Arial"/>
                          <a:ea typeface="Arial"/>
                          <a:cs typeface="Arial"/>
                          <a:sym typeface="Arial"/>
                        </a:rPr>
                        <a:t>86</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FFFFFF"/>
                          </a:solidFill>
                          <a:latin typeface="Arial"/>
                          <a:ea typeface="Arial"/>
                          <a:cs typeface="Arial"/>
                          <a:sym typeface="Arial"/>
                        </a:rPr>
                        <a:t>Delfina_VonRueden68</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FFFFFF"/>
                          </a:solidFill>
                          <a:latin typeface="Arial"/>
                          <a:ea typeface="Arial"/>
                          <a:cs typeface="Arial"/>
                          <a:sym typeface="Arial"/>
                        </a:rPr>
                        <a:t>77</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FFFFFF"/>
                          </a:solidFill>
                          <a:latin typeface="Arial"/>
                          <a:ea typeface="Arial"/>
                          <a:cs typeface="Arial"/>
                          <a:sym typeface="Arial"/>
                        </a:rPr>
                        <a:t>558</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FFFFFF"/>
                          </a:solidFill>
                          <a:latin typeface="Arial"/>
                          <a:ea typeface="Arial"/>
                          <a:cs typeface="Arial"/>
                          <a:sym typeface="Arial"/>
                        </a:rPr>
                        <a:t>7.2</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2450">
                <a:tc>
                  <a:txBody>
                    <a:bodyPr anchor="t" rtlCol="false"/>
                    <a:lstStyle/>
                    <a:p>
                      <a:pPr algn="l">
                        <a:lnSpc>
                          <a:spcPts val="3240"/>
                        </a:lnSpc>
                        <a:defRPr/>
                      </a:pPr>
                      <a:r>
                        <a:rPr lang="en-US" sz="2700">
                          <a:solidFill>
                            <a:srgbClr val="000000"/>
                          </a:solidFill>
                          <a:latin typeface="Arial"/>
                          <a:ea typeface="Arial"/>
                          <a:cs typeface="Arial"/>
                          <a:sym typeface="Arial"/>
                        </a:rPr>
                        <a:t>88</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EBF5"/>
                    </a:solidFill>
                  </a:tcPr>
                </a:tc>
                <a:tc>
                  <a:txBody>
                    <a:bodyPr anchor="t" rtlCol="false"/>
                    <a:lstStyle/>
                    <a:p>
                      <a:pPr algn="l">
                        <a:lnSpc>
                          <a:spcPts val="3240"/>
                        </a:lnSpc>
                        <a:defRPr/>
                      </a:pPr>
                      <a:r>
                        <a:rPr lang="en-US" sz="2700">
                          <a:solidFill>
                            <a:srgbClr val="000000"/>
                          </a:solidFill>
                          <a:latin typeface="Arial"/>
                          <a:ea typeface="Arial"/>
                          <a:cs typeface="Arial"/>
                          <a:sym typeface="Arial"/>
                        </a:rPr>
                        <a:t>Clint27</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EBF5"/>
                    </a:solidFill>
                  </a:tcPr>
                </a:tc>
                <a:tc>
                  <a:txBody>
                    <a:bodyPr anchor="t" rtlCol="false"/>
                    <a:lstStyle/>
                    <a:p>
                      <a:pPr algn="l">
                        <a:lnSpc>
                          <a:spcPts val="3240"/>
                        </a:lnSpc>
                        <a:defRPr/>
                      </a:pPr>
                      <a:r>
                        <a:rPr lang="en-US" sz="2700">
                          <a:solidFill>
                            <a:srgbClr val="000000"/>
                          </a:solidFill>
                          <a:latin typeface="Arial"/>
                          <a:ea typeface="Arial"/>
                          <a:cs typeface="Arial"/>
                          <a:sym typeface="Arial"/>
                        </a:rPr>
                        <a:t>77</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EBF5"/>
                    </a:solidFill>
                  </a:tcPr>
                </a:tc>
                <a:tc>
                  <a:txBody>
                    <a:bodyPr anchor="t" rtlCol="false"/>
                    <a:lstStyle/>
                    <a:p>
                      <a:pPr algn="l">
                        <a:lnSpc>
                          <a:spcPts val="3240"/>
                        </a:lnSpc>
                        <a:defRPr/>
                      </a:pPr>
                      <a:r>
                        <a:rPr lang="en-US" sz="2700">
                          <a:solidFill>
                            <a:srgbClr val="000000"/>
                          </a:solidFill>
                          <a:latin typeface="Arial"/>
                          <a:ea typeface="Arial"/>
                          <a:cs typeface="Arial"/>
                          <a:sym typeface="Arial"/>
                        </a:rPr>
                        <a:t>660</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EBF5"/>
                    </a:solidFill>
                  </a:tcPr>
                </a:tc>
                <a:tc>
                  <a:txBody>
                    <a:bodyPr anchor="t" rtlCol="false"/>
                    <a:lstStyle/>
                    <a:p>
                      <a:pPr algn="l">
                        <a:lnSpc>
                          <a:spcPts val="3240"/>
                        </a:lnSpc>
                        <a:defRPr/>
                      </a:pPr>
                      <a:r>
                        <a:rPr lang="en-US" sz="2700">
                          <a:solidFill>
                            <a:srgbClr val="000000"/>
                          </a:solidFill>
                          <a:latin typeface="Arial"/>
                          <a:ea typeface="Arial"/>
                          <a:cs typeface="Arial"/>
                          <a:sym typeface="Arial"/>
                        </a:rPr>
                        <a:t>8.6</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EBF5"/>
                    </a:solidFill>
                  </a:tcPr>
                </a:tc>
              </a:tr>
            </a:tbl>
          </a:graphicData>
        </a:graphic>
      </p:graphicFrame>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210263" y="550093"/>
            <a:ext cx="16892616" cy="871490"/>
          </a:xfrm>
          <a:prstGeom prst="rect">
            <a:avLst/>
          </a:prstGeom>
        </p:spPr>
        <p:txBody>
          <a:bodyPr anchor="t" rtlCol="false" tIns="0" lIns="0" bIns="0" rIns="0">
            <a:spAutoFit/>
          </a:bodyPr>
          <a:lstStyle/>
          <a:p>
            <a:pPr algn="l">
              <a:lnSpc>
                <a:spcPts val="5759"/>
              </a:lnSpc>
            </a:pPr>
            <a:r>
              <a:rPr lang="en-US" b="true" sz="4800" u="sng">
                <a:solidFill>
                  <a:srgbClr val="171616"/>
                </a:solidFill>
                <a:latin typeface="Calibri (MS) Bold"/>
                <a:ea typeface="Calibri (MS) Bold"/>
                <a:cs typeface="Calibri (MS) Bold"/>
                <a:sym typeface="Calibri (MS) Bold"/>
              </a:rPr>
              <a:t>CORRELATION BETWEEN UPLOADS &amp; ENGAGEMENT</a:t>
            </a:r>
          </a:p>
        </p:txBody>
      </p:sp>
      <p:sp>
        <p:nvSpPr>
          <p:cNvPr name="TextBox 3" id="3"/>
          <p:cNvSpPr txBox="true"/>
          <p:nvPr/>
        </p:nvSpPr>
        <p:spPr>
          <a:xfrm rot="0">
            <a:off x="1049665" y="1581922"/>
            <a:ext cx="4833823" cy="7810309"/>
          </a:xfrm>
          <a:prstGeom prst="rect">
            <a:avLst/>
          </a:prstGeom>
        </p:spPr>
        <p:txBody>
          <a:bodyPr anchor="t" rtlCol="false" tIns="0" lIns="0" bIns="0" rIns="0">
            <a:spAutoFit/>
          </a:bodyPr>
          <a:lstStyle/>
          <a:p>
            <a:pPr algn="l" marL="542925" indent="-271462" lvl="1">
              <a:lnSpc>
                <a:spcPts val="3852"/>
              </a:lnSpc>
              <a:buFont typeface="Arial"/>
              <a:buChar char="•"/>
            </a:pPr>
            <a:r>
              <a:rPr lang="en-US" sz="3000">
                <a:solidFill>
                  <a:srgbClr val="000000"/>
                </a:solidFill>
                <a:latin typeface="Calibri (MS)"/>
                <a:ea typeface="Calibri (MS)"/>
                <a:cs typeface="Calibri (MS)"/>
                <a:sym typeface="Calibri (MS)"/>
              </a:rPr>
              <a:t>As the number of photo uploads increases, so does the average total engagement showing </a:t>
            </a:r>
            <a:r>
              <a:rPr lang="en-US" b="true" sz="3000">
                <a:solidFill>
                  <a:srgbClr val="000000"/>
                </a:solidFill>
                <a:latin typeface="Calibri (MS) Bold"/>
                <a:ea typeface="Calibri (MS) Bold"/>
                <a:cs typeface="Calibri (MS) Bold"/>
                <a:sym typeface="Calibri (MS) Bold"/>
              </a:rPr>
              <a:t>positive correlation between the number of photo uploads and total engagement</a:t>
            </a:r>
          </a:p>
          <a:p>
            <a:pPr algn="l" marL="380048" indent="-190024" lvl="1">
              <a:lnSpc>
                <a:spcPts val="2696"/>
              </a:lnSpc>
            </a:pPr>
          </a:p>
          <a:p>
            <a:pPr algn="l" marL="542925" indent="-271462" lvl="1">
              <a:lnSpc>
                <a:spcPts val="3600"/>
              </a:lnSpc>
              <a:buFont typeface="Arial"/>
              <a:buChar char="•"/>
            </a:pPr>
            <a:r>
              <a:rPr lang="en-US" sz="3000">
                <a:solidFill>
                  <a:srgbClr val="000000"/>
                </a:solidFill>
                <a:latin typeface="Calibri (MS)"/>
                <a:ea typeface="Calibri (MS)"/>
                <a:cs typeface="Calibri (MS)"/>
                <a:sym typeface="Calibri (MS)"/>
              </a:rPr>
              <a:t>Engagement growth slows between 10 and 11 uploads, indicating that quantity alone doesn’t guarantee higher engagement; quality content is essential.</a:t>
            </a:r>
          </a:p>
        </p:txBody>
      </p:sp>
      <p:grpSp>
        <p:nvGrpSpPr>
          <p:cNvPr name="Group 4" id="4"/>
          <p:cNvGrpSpPr/>
          <p:nvPr/>
        </p:nvGrpSpPr>
        <p:grpSpPr>
          <a:xfrm rot="0">
            <a:off x="7221255" y="2291753"/>
            <a:ext cx="10108502" cy="6013009"/>
            <a:chOff x="0" y="0"/>
            <a:chExt cx="13478002" cy="8017345"/>
          </a:xfrm>
        </p:grpSpPr>
        <p:sp>
          <p:nvSpPr>
            <p:cNvPr name="Freeform 5" id="5"/>
            <p:cNvSpPr/>
            <p:nvPr/>
          </p:nvSpPr>
          <p:spPr>
            <a:xfrm flipH="false" flipV="false" rot="0">
              <a:off x="0" y="0"/>
              <a:ext cx="13478002" cy="8017383"/>
            </a:xfrm>
            <a:custGeom>
              <a:avLst/>
              <a:gdLst/>
              <a:ahLst/>
              <a:cxnLst/>
              <a:rect r="r" b="b" t="t" l="l"/>
              <a:pathLst>
                <a:path h="8017383" w="13478002">
                  <a:moveTo>
                    <a:pt x="0" y="0"/>
                  </a:moveTo>
                  <a:lnTo>
                    <a:pt x="13478002" y="0"/>
                  </a:lnTo>
                  <a:lnTo>
                    <a:pt x="13478002" y="8017383"/>
                  </a:lnTo>
                  <a:lnTo>
                    <a:pt x="0" y="8017383"/>
                  </a:lnTo>
                  <a:lnTo>
                    <a:pt x="0" y="0"/>
                  </a:lnTo>
                  <a:close/>
                </a:path>
              </a:pathLst>
            </a:custGeom>
            <a:blipFill>
              <a:blip r:embed="rId2"/>
              <a:stretch>
                <a:fillRect l="0" t="0" r="-254" b="0"/>
              </a:stretch>
            </a:blipFill>
          </p:spPr>
        </p:sp>
      </p:gr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156419" y="550093"/>
            <a:ext cx="16892616" cy="871490"/>
          </a:xfrm>
          <a:prstGeom prst="rect">
            <a:avLst/>
          </a:prstGeom>
        </p:spPr>
        <p:txBody>
          <a:bodyPr anchor="t" rtlCol="false" tIns="0" lIns="0" bIns="0" rIns="0">
            <a:spAutoFit/>
          </a:bodyPr>
          <a:lstStyle/>
          <a:p>
            <a:pPr algn="l">
              <a:lnSpc>
                <a:spcPts val="5759"/>
              </a:lnSpc>
            </a:pPr>
            <a:r>
              <a:rPr lang="en-US" b="true" sz="4800" u="sng">
                <a:solidFill>
                  <a:srgbClr val="262626"/>
                </a:solidFill>
                <a:latin typeface="Calibri (MS) Bold"/>
                <a:ea typeface="Calibri (MS) Bold"/>
                <a:cs typeface="Calibri (MS) Bold"/>
                <a:sym typeface="Calibri (MS) Bold"/>
              </a:rPr>
              <a:t>USER SEGMENTATION </a:t>
            </a:r>
          </a:p>
        </p:txBody>
      </p:sp>
      <p:sp>
        <p:nvSpPr>
          <p:cNvPr name="TextBox 3" id="3"/>
          <p:cNvSpPr txBox="true"/>
          <p:nvPr/>
        </p:nvSpPr>
        <p:spPr>
          <a:xfrm rot="0">
            <a:off x="1993623" y="3622270"/>
            <a:ext cx="9174099" cy="2473462"/>
          </a:xfrm>
          <a:prstGeom prst="rect">
            <a:avLst/>
          </a:prstGeom>
        </p:spPr>
        <p:txBody>
          <a:bodyPr anchor="t" rtlCol="false" tIns="0" lIns="0" bIns="0" rIns="0">
            <a:spAutoFit/>
          </a:bodyPr>
          <a:lstStyle/>
          <a:p>
            <a:pPr algn="l">
              <a:lnSpc>
                <a:spcPts val="3852"/>
              </a:lnSpc>
            </a:pPr>
            <a:r>
              <a:rPr lang="en-US" b="true" sz="3000">
                <a:solidFill>
                  <a:srgbClr val="000000"/>
                </a:solidFill>
                <a:latin typeface="Calibri (MS) Bold"/>
                <a:ea typeface="Calibri (MS) Bold"/>
                <a:cs typeface="Calibri (MS) Bold"/>
                <a:sym typeface="Calibri (MS) Bold"/>
              </a:rPr>
              <a:t>Category : Activity Status </a:t>
            </a:r>
          </a:p>
          <a:p>
            <a:pPr algn="l" marL="542925" indent="-271462" lvl="1">
              <a:lnSpc>
                <a:spcPts val="3600"/>
              </a:lnSpc>
              <a:buFont typeface="Arial"/>
              <a:buChar char="•"/>
            </a:pPr>
            <a:r>
              <a:rPr lang="en-US" sz="3000">
                <a:solidFill>
                  <a:srgbClr val="000000"/>
                </a:solidFill>
                <a:latin typeface="Calibri (MS)"/>
                <a:ea typeface="Calibri (MS)"/>
                <a:cs typeface="Calibri (MS)"/>
                <a:sym typeface="Calibri (MS)"/>
              </a:rPr>
              <a:t>No Activity: activity = 0</a:t>
            </a:r>
          </a:p>
          <a:p>
            <a:pPr algn="l" marL="542925" indent="-271462" lvl="1">
              <a:lnSpc>
                <a:spcPts val="3600"/>
              </a:lnSpc>
              <a:buFont typeface="Arial"/>
              <a:buChar char="•"/>
            </a:pPr>
            <a:r>
              <a:rPr lang="en-US" sz="3000">
                <a:solidFill>
                  <a:srgbClr val="000000"/>
                </a:solidFill>
                <a:latin typeface="Calibri (MS)"/>
                <a:ea typeface="Calibri (MS)"/>
                <a:cs typeface="Calibri (MS)"/>
                <a:sym typeface="Calibri (MS)"/>
              </a:rPr>
              <a:t>High Activity: activity &gt;= 250</a:t>
            </a:r>
          </a:p>
          <a:p>
            <a:pPr algn="l" marL="542925" indent="-271462" lvl="1">
              <a:lnSpc>
                <a:spcPts val="3600"/>
              </a:lnSpc>
              <a:buFont typeface="Arial"/>
              <a:buChar char="•"/>
            </a:pPr>
            <a:r>
              <a:rPr lang="en-US" sz="3000">
                <a:solidFill>
                  <a:srgbClr val="000000"/>
                </a:solidFill>
                <a:latin typeface="Calibri (MS)"/>
                <a:ea typeface="Calibri (MS)"/>
                <a:cs typeface="Calibri (MS)"/>
                <a:sym typeface="Calibri (MS)"/>
              </a:rPr>
              <a:t>Low Activity: activity &lt; 150</a:t>
            </a:r>
          </a:p>
          <a:p>
            <a:pPr algn="l" marL="542925" indent="-271462" lvl="1">
              <a:lnSpc>
                <a:spcPts val="3600"/>
              </a:lnSpc>
              <a:buFont typeface="Arial"/>
              <a:buChar char="•"/>
            </a:pPr>
            <a:r>
              <a:rPr lang="en-US" sz="3000">
                <a:solidFill>
                  <a:srgbClr val="000000"/>
                </a:solidFill>
                <a:latin typeface="Calibri (MS)"/>
                <a:ea typeface="Calibri (MS)"/>
                <a:cs typeface="Calibri (MS)"/>
                <a:sym typeface="Calibri (MS)"/>
              </a:rPr>
              <a:t>Moderate Activity: activity BETWEEN 150 AND 250</a:t>
            </a:r>
          </a:p>
        </p:txBody>
      </p:sp>
      <p:sp>
        <p:nvSpPr>
          <p:cNvPr name="TextBox 4" id="4"/>
          <p:cNvSpPr txBox="true"/>
          <p:nvPr/>
        </p:nvSpPr>
        <p:spPr>
          <a:xfrm rot="0">
            <a:off x="7516948" y="6352907"/>
            <a:ext cx="8666788" cy="3074784"/>
          </a:xfrm>
          <a:prstGeom prst="rect">
            <a:avLst/>
          </a:prstGeom>
        </p:spPr>
        <p:txBody>
          <a:bodyPr anchor="t" rtlCol="false" tIns="0" lIns="0" bIns="0" rIns="0">
            <a:spAutoFit/>
          </a:bodyPr>
          <a:lstStyle/>
          <a:p>
            <a:pPr algn="l">
              <a:lnSpc>
                <a:spcPts val="3852"/>
              </a:lnSpc>
            </a:pPr>
            <a:r>
              <a:rPr lang="en-US" b="true" sz="3000">
                <a:solidFill>
                  <a:srgbClr val="000000"/>
                </a:solidFill>
                <a:latin typeface="Calibri (MS) Bold"/>
                <a:ea typeface="Calibri (MS) Bold"/>
                <a:cs typeface="Calibri (MS) Bold"/>
                <a:sym typeface="Calibri (MS) Bold"/>
              </a:rPr>
              <a:t>Category: Engagement Status</a:t>
            </a:r>
          </a:p>
          <a:p>
            <a:pPr algn="l" marL="542925" indent="-271462" lvl="1">
              <a:lnSpc>
                <a:spcPts val="3852"/>
              </a:lnSpc>
              <a:buFont typeface="Arial"/>
              <a:buChar char="•"/>
            </a:pPr>
            <a:r>
              <a:rPr lang="en-US" sz="3000">
                <a:solidFill>
                  <a:srgbClr val="000000"/>
                </a:solidFill>
                <a:latin typeface="Calibri (MS)"/>
                <a:ea typeface="Calibri (MS)"/>
                <a:cs typeface="Calibri (MS)"/>
                <a:sym typeface="Calibri (MS)"/>
              </a:rPr>
              <a:t>No Engagement: engagement= 0</a:t>
            </a:r>
          </a:p>
          <a:p>
            <a:pPr algn="l" marL="542925" indent="-271462" lvl="1">
              <a:lnSpc>
                <a:spcPts val="3852"/>
              </a:lnSpc>
              <a:buFont typeface="Arial"/>
              <a:buChar char="•"/>
            </a:pPr>
            <a:r>
              <a:rPr lang="en-US" sz="3000">
                <a:solidFill>
                  <a:srgbClr val="000000"/>
                </a:solidFill>
                <a:latin typeface="Calibri (MS)"/>
                <a:ea typeface="Calibri (MS)"/>
                <a:cs typeface="Calibri (MS)"/>
                <a:sym typeface="Calibri (MS)"/>
              </a:rPr>
              <a:t>High Engagement: engagement&gt;= 300</a:t>
            </a:r>
          </a:p>
          <a:p>
            <a:pPr algn="l" marL="542925" indent="-271462" lvl="1">
              <a:lnSpc>
                <a:spcPts val="3852"/>
              </a:lnSpc>
              <a:buFont typeface="Arial"/>
              <a:buChar char="•"/>
            </a:pPr>
            <a:r>
              <a:rPr lang="en-US" sz="3000">
                <a:solidFill>
                  <a:srgbClr val="000000"/>
                </a:solidFill>
                <a:latin typeface="Calibri (MS)"/>
                <a:ea typeface="Calibri (MS)"/>
                <a:cs typeface="Calibri (MS)"/>
                <a:sym typeface="Calibri (MS)"/>
              </a:rPr>
              <a:t>Low Engagement: engagement&lt; 200</a:t>
            </a:r>
          </a:p>
          <a:p>
            <a:pPr algn="l" marL="542925" indent="-271462" lvl="1">
              <a:lnSpc>
                <a:spcPts val="3852"/>
              </a:lnSpc>
              <a:buFont typeface="Arial"/>
              <a:buChar char="•"/>
            </a:pPr>
            <a:r>
              <a:rPr lang="en-US" sz="3000">
                <a:solidFill>
                  <a:srgbClr val="000000"/>
                </a:solidFill>
                <a:latin typeface="Calibri (MS)"/>
                <a:ea typeface="Calibri (MS)"/>
                <a:cs typeface="Calibri (MS)"/>
                <a:sym typeface="Calibri (MS)"/>
              </a:rPr>
              <a:t>Moderate Engagement: engagement BETWEEN 200 AND 300</a:t>
            </a:r>
          </a:p>
        </p:txBody>
      </p:sp>
      <p:sp>
        <p:nvSpPr>
          <p:cNvPr name="TextBox 5" id="5"/>
          <p:cNvSpPr txBox="true"/>
          <p:nvPr/>
        </p:nvSpPr>
        <p:spPr>
          <a:xfrm rot="0">
            <a:off x="1087241" y="1701660"/>
            <a:ext cx="15956937" cy="1037101"/>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To Develop Marketing Strategies, understanding User both on their engagement and activity level is important. Thus Users are segmented into different categories based on the following categories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69309" y="244259"/>
            <a:ext cx="17149372" cy="9798482"/>
            <a:chOff x="0" y="0"/>
            <a:chExt cx="22865829" cy="13064642"/>
          </a:xfrm>
        </p:grpSpPr>
        <p:sp>
          <p:nvSpPr>
            <p:cNvPr name="Freeform 3" id="3"/>
            <p:cNvSpPr/>
            <p:nvPr/>
          </p:nvSpPr>
          <p:spPr>
            <a:xfrm flipH="false" flipV="false" rot="0">
              <a:off x="0" y="0"/>
              <a:ext cx="22865842" cy="13064617"/>
            </a:xfrm>
            <a:custGeom>
              <a:avLst/>
              <a:gdLst/>
              <a:ahLst/>
              <a:cxnLst/>
              <a:rect r="r" b="b" t="t" l="l"/>
              <a:pathLst>
                <a:path h="13064617" w="22865842">
                  <a:moveTo>
                    <a:pt x="0" y="0"/>
                  </a:moveTo>
                  <a:lnTo>
                    <a:pt x="22865842" y="0"/>
                  </a:lnTo>
                  <a:lnTo>
                    <a:pt x="22865842" y="13064617"/>
                  </a:lnTo>
                  <a:lnTo>
                    <a:pt x="0" y="13064617"/>
                  </a:lnTo>
                  <a:lnTo>
                    <a:pt x="0" y="0"/>
                  </a:lnTo>
                  <a:close/>
                </a:path>
              </a:pathLst>
            </a:custGeom>
            <a:blipFill>
              <a:blip r:embed="rId2"/>
              <a:stretch>
                <a:fillRect l="0" t="0" r="-238" b="0"/>
              </a:stretch>
            </a:blipFill>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41000"/>
            </a:blip>
            <a:stretch>
              <a:fillRect l="0" t="-9222" r="0" b="-9222"/>
            </a:stretch>
          </a:blipFill>
        </p:spPr>
      </p:sp>
      <p:sp>
        <p:nvSpPr>
          <p:cNvPr name="TextBox 3" id="3"/>
          <p:cNvSpPr txBox="true"/>
          <p:nvPr/>
        </p:nvSpPr>
        <p:spPr>
          <a:xfrm rot="0">
            <a:off x="1215199" y="1204627"/>
            <a:ext cx="15787830" cy="878100"/>
          </a:xfrm>
          <a:prstGeom prst="rect">
            <a:avLst/>
          </a:prstGeom>
        </p:spPr>
        <p:txBody>
          <a:bodyPr anchor="t" rtlCol="false" tIns="0" lIns="0" bIns="0" rIns="0">
            <a:spAutoFit/>
          </a:bodyPr>
          <a:lstStyle/>
          <a:p>
            <a:pPr algn="ctr">
              <a:lnSpc>
                <a:spcPts val="6480"/>
              </a:lnSpc>
            </a:pPr>
            <a:r>
              <a:rPr lang="en-US" b="true" sz="5400">
                <a:solidFill>
                  <a:srgbClr val="00695C"/>
                </a:solidFill>
                <a:latin typeface="Century Gothic Paneuropean Bold"/>
                <a:ea typeface="Century Gothic Paneuropean Bold"/>
                <a:cs typeface="Century Gothic Paneuropean Bold"/>
                <a:sym typeface="Century Gothic Paneuropean Bold"/>
              </a:rPr>
              <a:t>MARKETING STRATEGIES</a:t>
            </a:r>
          </a:p>
        </p:txBody>
      </p:sp>
      <p:sp>
        <p:nvSpPr>
          <p:cNvPr name="TextBox 4" id="4"/>
          <p:cNvSpPr txBox="true"/>
          <p:nvPr/>
        </p:nvSpPr>
        <p:spPr>
          <a:xfrm rot="0">
            <a:off x="1284970" y="4012473"/>
            <a:ext cx="4238387" cy="3892296"/>
          </a:xfrm>
          <a:prstGeom prst="rect">
            <a:avLst/>
          </a:prstGeom>
        </p:spPr>
        <p:txBody>
          <a:bodyPr anchor="t" rtlCol="false" tIns="0" lIns="0" bIns="0" rIns="0">
            <a:spAutoFit/>
          </a:bodyPr>
          <a:lstStyle/>
          <a:p>
            <a:pPr algn="l">
              <a:lnSpc>
                <a:spcPts val="3852"/>
              </a:lnSpc>
            </a:pPr>
            <a:r>
              <a:rPr lang="en-US" b="true" sz="3000">
                <a:solidFill>
                  <a:srgbClr val="000000"/>
                </a:solidFill>
                <a:latin typeface="Roboto Bold"/>
                <a:ea typeface="Roboto Bold"/>
                <a:cs typeface="Roboto Bold"/>
                <a:sym typeface="Roboto Bold"/>
              </a:rPr>
              <a:t>MAIN CONCERN: </a:t>
            </a:r>
          </a:p>
          <a:p>
            <a:pPr algn="l" marL="542925" indent="-271462" lvl="1">
              <a:lnSpc>
                <a:spcPts val="3852"/>
              </a:lnSpc>
              <a:buFont typeface="Arial"/>
              <a:buChar char="•"/>
            </a:pPr>
            <a:r>
              <a:rPr lang="en-US" b="true" sz="3000">
                <a:solidFill>
                  <a:srgbClr val="000000"/>
                </a:solidFill>
                <a:latin typeface="Roboto Bold"/>
                <a:ea typeface="Roboto Bold"/>
                <a:cs typeface="Roboto Bold"/>
                <a:sym typeface="Roboto Bold"/>
              </a:rPr>
              <a:t>Users With No Activity</a:t>
            </a:r>
          </a:p>
          <a:p>
            <a:pPr algn="l" marL="542925" indent="-271462" lvl="1">
              <a:lnSpc>
                <a:spcPts val="3852"/>
              </a:lnSpc>
              <a:buFont typeface="Arial"/>
              <a:buChar char="•"/>
            </a:pPr>
            <a:r>
              <a:rPr lang="en-US" b="true" sz="3000">
                <a:solidFill>
                  <a:srgbClr val="000000"/>
                </a:solidFill>
                <a:latin typeface="Roboto Bold"/>
                <a:ea typeface="Roboto Bold"/>
                <a:cs typeface="Roboto Bold"/>
                <a:sym typeface="Roboto Bold"/>
              </a:rPr>
              <a:t>Users With No Engagement</a:t>
            </a:r>
          </a:p>
          <a:p>
            <a:pPr algn="l" marL="542925" indent="-271462" lvl="1">
              <a:lnSpc>
                <a:spcPts val="3852"/>
              </a:lnSpc>
              <a:buFont typeface="Arial"/>
              <a:buChar char="•"/>
            </a:pPr>
            <a:r>
              <a:rPr lang="en-US" b="true" sz="3000">
                <a:solidFill>
                  <a:srgbClr val="000000"/>
                </a:solidFill>
                <a:latin typeface="Roboto Bold"/>
                <a:ea typeface="Roboto Bold"/>
                <a:cs typeface="Roboto Bold"/>
                <a:sym typeface="Roboto Bold"/>
              </a:rPr>
              <a:t>Users With Neither Activity Nor Engagement</a:t>
            </a:r>
          </a:p>
        </p:txBody>
      </p:sp>
      <p:sp>
        <p:nvSpPr>
          <p:cNvPr name="TextBox 5" id="5"/>
          <p:cNvSpPr txBox="true"/>
          <p:nvPr/>
        </p:nvSpPr>
        <p:spPr>
          <a:xfrm rot="0">
            <a:off x="7024797" y="4012473"/>
            <a:ext cx="4238396" cy="3406521"/>
          </a:xfrm>
          <a:prstGeom prst="rect">
            <a:avLst/>
          </a:prstGeom>
        </p:spPr>
        <p:txBody>
          <a:bodyPr anchor="t" rtlCol="false" tIns="0" lIns="0" bIns="0" rIns="0">
            <a:spAutoFit/>
          </a:bodyPr>
          <a:lstStyle/>
          <a:p>
            <a:pPr algn="l">
              <a:lnSpc>
                <a:spcPts val="3852"/>
              </a:lnSpc>
            </a:pPr>
            <a:r>
              <a:rPr lang="en-US" b="true" sz="3000">
                <a:solidFill>
                  <a:srgbClr val="000000"/>
                </a:solidFill>
                <a:latin typeface="Roboto Bold"/>
                <a:ea typeface="Roboto Bold"/>
                <a:cs typeface="Roboto Bold"/>
                <a:sym typeface="Roboto Bold"/>
              </a:rPr>
              <a:t>MAIN CONCERN:</a:t>
            </a:r>
          </a:p>
          <a:p>
            <a:pPr algn="l" marL="542925" indent="-271462" lvl="1">
              <a:lnSpc>
                <a:spcPts val="3852"/>
              </a:lnSpc>
              <a:buFont typeface="Arial"/>
              <a:buChar char="•"/>
            </a:pPr>
            <a:r>
              <a:rPr lang="en-US" b="true" sz="3000">
                <a:solidFill>
                  <a:srgbClr val="000000"/>
                </a:solidFill>
                <a:latin typeface="Roboto Bold"/>
                <a:ea typeface="Roboto Bold"/>
                <a:cs typeface="Roboto Bold"/>
                <a:sym typeface="Roboto Bold"/>
              </a:rPr>
              <a:t>User decline since 2017.</a:t>
            </a:r>
          </a:p>
          <a:p>
            <a:pPr algn="l" marL="542925" indent="-271462" lvl="1">
              <a:lnSpc>
                <a:spcPts val="3852"/>
              </a:lnSpc>
              <a:buFont typeface="Arial"/>
              <a:buChar char="•"/>
            </a:pPr>
            <a:r>
              <a:rPr lang="en-US" b="true" sz="3000">
                <a:solidFill>
                  <a:srgbClr val="000000"/>
                </a:solidFill>
                <a:latin typeface="Roboto Bold"/>
                <a:ea typeface="Roboto Bold"/>
                <a:cs typeface="Roboto Bold"/>
                <a:sym typeface="Roboto Bold"/>
              </a:rPr>
              <a:t>Attracting new users.</a:t>
            </a:r>
          </a:p>
          <a:p>
            <a:pPr algn="l" marL="542925" indent="-271462" lvl="1">
              <a:lnSpc>
                <a:spcPts val="3852"/>
              </a:lnSpc>
              <a:buFont typeface="Arial"/>
              <a:buChar char="•"/>
            </a:pPr>
            <a:r>
              <a:rPr lang="en-US" b="true" sz="3000">
                <a:solidFill>
                  <a:srgbClr val="000000"/>
                </a:solidFill>
                <a:latin typeface="Roboto Bold"/>
                <a:ea typeface="Roboto Bold"/>
                <a:cs typeface="Roboto Bold"/>
                <a:sym typeface="Roboto Bold"/>
              </a:rPr>
              <a:t>Varied engagement levels: high vs. low engagement.</a:t>
            </a:r>
          </a:p>
        </p:txBody>
      </p:sp>
      <p:sp>
        <p:nvSpPr>
          <p:cNvPr name="TextBox 6" id="6"/>
          <p:cNvSpPr txBox="true"/>
          <p:nvPr/>
        </p:nvSpPr>
        <p:spPr>
          <a:xfrm rot="0">
            <a:off x="12764633" y="4020464"/>
            <a:ext cx="4238396" cy="4863846"/>
          </a:xfrm>
          <a:prstGeom prst="rect">
            <a:avLst/>
          </a:prstGeom>
        </p:spPr>
        <p:txBody>
          <a:bodyPr anchor="t" rtlCol="false" tIns="0" lIns="0" bIns="0" rIns="0">
            <a:spAutoFit/>
          </a:bodyPr>
          <a:lstStyle/>
          <a:p>
            <a:pPr algn="l">
              <a:lnSpc>
                <a:spcPts val="3852"/>
              </a:lnSpc>
            </a:pPr>
            <a:r>
              <a:rPr lang="en-US" b="true" sz="3000">
                <a:solidFill>
                  <a:srgbClr val="000000"/>
                </a:solidFill>
                <a:latin typeface="Roboto Bold"/>
                <a:ea typeface="Roboto Bold"/>
                <a:cs typeface="Roboto Bold"/>
                <a:sym typeface="Roboto Bold"/>
              </a:rPr>
              <a:t>MAIN CONCERN:</a:t>
            </a:r>
          </a:p>
          <a:p>
            <a:pPr algn="l" marL="542925" indent="-271462" lvl="1">
              <a:lnSpc>
                <a:spcPts val="3852"/>
              </a:lnSpc>
              <a:buFont typeface="Arial"/>
              <a:buChar char="•"/>
            </a:pPr>
            <a:r>
              <a:rPr lang="en-US" b="true" sz="3000">
                <a:solidFill>
                  <a:srgbClr val="000000"/>
                </a:solidFill>
                <a:latin typeface="Roboto Bold"/>
                <a:ea typeface="Roboto Bold"/>
                <a:cs typeface="Roboto Bold"/>
                <a:sym typeface="Roboto Bold"/>
              </a:rPr>
              <a:t>40 of 74 active users post only 1-3 photos.</a:t>
            </a:r>
          </a:p>
          <a:p>
            <a:pPr algn="l" marL="542925" indent="-271462" lvl="1">
              <a:lnSpc>
                <a:spcPts val="3852"/>
              </a:lnSpc>
              <a:buFont typeface="Arial"/>
              <a:buChar char="•"/>
            </a:pPr>
            <a:r>
              <a:rPr lang="en-US" b="true" sz="3000">
                <a:solidFill>
                  <a:srgbClr val="000000"/>
                </a:solidFill>
                <a:latin typeface="Roboto Bold"/>
                <a:ea typeface="Roboto Bold"/>
                <a:cs typeface="Roboto Bold"/>
                <a:sym typeface="Roboto Bold"/>
              </a:rPr>
              <a:t>Need to boost engagement and activity among moderate users.</a:t>
            </a:r>
          </a:p>
          <a:p>
            <a:pPr algn="l" marL="542925" indent="-271462" lvl="1">
              <a:lnSpc>
                <a:spcPts val="3852"/>
              </a:lnSpc>
              <a:buFont typeface="Arial"/>
              <a:buChar char="•"/>
            </a:pPr>
            <a:r>
              <a:rPr lang="en-US" b="true" sz="3000">
                <a:solidFill>
                  <a:srgbClr val="000000"/>
                </a:solidFill>
                <a:latin typeface="Roboto Bold"/>
                <a:ea typeface="Roboto Bold"/>
                <a:cs typeface="Roboto Bold"/>
                <a:sym typeface="Roboto Bold"/>
              </a:rPr>
              <a:t>31 users lack tags, limiting discoverability.</a:t>
            </a:r>
          </a:p>
        </p:txBody>
      </p:sp>
      <p:sp>
        <p:nvSpPr>
          <p:cNvPr name="TextBox 7" id="7"/>
          <p:cNvSpPr txBox="true"/>
          <p:nvPr/>
        </p:nvSpPr>
        <p:spPr>
          <a:xfrm rot="0">
            <a:off x="1215199" y="3050024"/>
            <a:ext cx="3237881" cy="552450"/>
          </a:xfrm>
          <a:prstGeom prst="rect">
            <a:avLst/>
          </a:prstGeom>
        </p:spPr>
        <p:txBody>
          <a:bodyPr anchor="t" rtlCol="false" tIns="0" lIns="0" bIns="0" rIns="0">
            <a:spAutoFit/>
          </a:bodyPr>
          <a:lstStyle/>
          <a:p>
            <a:pPr algn="ctr">
              <a:lnSpc>
                <a:spcPts val="4320"/>
              </a:lnSpc>
            </a:pPr>
            <a:r>
              <a:rPr lang="en-US" b="true" sz="3600">
                <a:solidFill>
                  <a:srgbClr val="00695C"/>
                </a:solidFill>
                <a:latin typeface="Roboto Bold"/>
                <a:ea typeface="Roboto Bold"/>
                <a:cs typeface="Roboto Bold"/>
                <a:sym typeface="Roboto Bold"/>
              </a:rPr>
              <a:t>User Retention</a:t>
            </a:r>
          </a:p>
        </p:txBody>
      </p:sp>
      <p:sp>
        <p:nvSpPr>
          <p:cNvPr name="TextBox 8" id="8"/>
          <p:cNvSpPr txBox="true"/>
          <p:nvPr/>
        </p:nvSpPr>
        <p:spPr>
          <a:xfrm rot="0">
            <a:off x="7024802" y="3050024"/>
            <a:ext cx="3734980" cy="552450"/>
          </a:xfrm>
          <a:prstGeom prst="rect">
            <a:avLst/>
          </a:prstGeom>
        </p:spPr>
        <p:txBody>
          <a:bodyPr anchor="t" rtlCol="false" tIns="0" lIns="0" bIns="0" rIns="0">
            <a:spAutoFit/>
          </a:bodyPr>
          <a:lstStyle/>
          <a:p>
            <a:pPr algn="ctr">
              <a:lnSpc>
                <a:spcPts val="4320"/>
              </a:lnSpc>
            </a:pPr>
            <a:r>
              <a:rPr lang="en-US" b="true" sz="3600">
                <a:solidFill>
                  <a:srgbClr val="00695C"/>
                </a:solidFill>
                <a:latin typeface="Roboto Bold"/>
                <a:ea typeface="Roboto Bold"/>
                <a:cs typeface="Roboto Bold"/>
                <a:sym typeface="Roboto Bold"/>
              </a:rPr>
              <a:t>User Acquisition</a:t>
            </a:r>
          </a:p>
        </p:txBody>
      </p:sp>
      <p:sp>
        <p:nvSpPr>
          <p:cNvPr name="TextBox 9" id="9"/>
          <p:cNvSpPr txBox="true"/>
          <p:nvPr/>
        </p:nvSpPr>
        <p:spPr>
          <a:xfrm rot="0">
            <a:off x="12764633" y="3050024"/>
            <a:ext cx="4238396" cy="552450"/>
          </a:xfrm>
          <a:prstGeom prst="rect">
            <a:avLst/>
          </a:prstGeom>
        </p:spPr>
        <p:txBody>
          <a:bodyPr anchor="t" rtlCol="false" tIns="0" lIns="0" bIns="0" rIns="0">
            <a:spAutoFit/>
          </a:bodyPr>
          <a:lstStyle/>
          <a:p>
            <a:pPr algn="ctr">
              <a:lnSpc>
                <a:spcPts val="4320"/>
              </a:lnSpc>
            </a:pPr>
            <a:r>
              <a:rPr lang="en-US" b="true" sz="3600">
                <a:solidFill>
                  <a:srgbClr val="00695C"/>
                </a:solidFill>
                <a:latin typeface="Roboto Bold"/>
                <a:ea typeface="Roboto Bold"/>
                <a:cs typeface="Roboto Bold"/>
                <a:sym typeface="Roboto Bold"/>
              </a:rPr>
              <a:t>User Engagement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53556" y="3055238"/>
            <a:ext cx="1075068" cy="1075068"/>
          </a:xfrm>
          <a:custGeom>
            <a:avLst/>
            <a:gdLst/>
            <a:ahLst/>
            <a:cxnLst/>
            <a:rect r="r" b="b" t="t" l="l"/>
            <a:pathLst>
              <a:path h="1075068" w="1075068">
                <a:moveTo>
                  <a:pt x="0" y="0"/>
                </a:moveTo>
                <a:lnTo>
                  <a:pt x="1075068" y="0"/>
                </a:lnTo>
                <a:lnTo>
                  <a:pt x="1075068" y="1075068"/>
                </a:lnTo>
                <a:lnTo>
                  <a:pt x="0" y="10750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621528" y="3101912"/>
            <a:ext cx="1076971" cy="1076971"/>
          </a:xfrm>
          <a:custGeom>
            <a:avLst/>
            <a:gdLst/>
            <a:ahLst/>
            <a:cxnLst/>
            <a:rect r="r" b="b" t="t" l="l"/>
            <a:pathLst>
              <a:path h="1076971" w="1076971">
                <a:moveTo>
                  <a:pt x="0" y="0"/>
                </a:moveTo>
                <a:lnTo>
                  <a:pt x="1076971" y="0"/>
                </a:lnTo>
                <a:lnTo>
                  <a:pt x="1076971" y="1076970"/>
                </a:lnTo>
                <a:lnTo>
                  <a:pt x="0" y="10769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010716" y="3253803"/>
            <a:ext cx="925079" cy="925079"/>
          </a:xfrm>
          <a:custGeom>
            <a:avLst/>
            <a:gdLst/>
            <a:ahLst/>
            <a:cxnLst/>
            <a:rect r="r" b="b" t="t" l="l"/>
            <a:pathLst>
              <a:path h="925079" w="925079">
                <a:moveTo>
                  <a:pt x="0" y="0"/>
                </a:moveTo>
                <a:lnTo>
                  <a:pt x="925079" y="0"/>
                </a:lnTo>
                <a:lnTo>
                  <a:pt x="925079" y="925079"/>
                </a:lnTo>
                <a:lnTo>
                  <a:pt x="0" y="9250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39018" y="3177063"/>
            <a:ext cx="1079139" cy="945718"/>
          </a:xfrm>
          <a:custGeom>
            <a:avLst/>
            <a:gdLst/>
            <a:ahLst/>
            <a:cxnLst/>
            <a:rect r="r" b="b" t="t" l="l"/>
            <a:pathLst>
              <a:path h="945718" w="1079139">
                <a:moveTo>
                  <a:pt x="0" y="0"/>
                </a:moveTo>
                <a:lnTo>
                  <a:pt x="1079139" y="0"/>
                </a:lnTo>
                <a:lnTo>
                  <a:pt x="1079139" y="945718"/>
                </a:lnTo>
                <a:lnTo>
                  <a:pt x="0" y="9457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606427" y="4573972"/>
            <a:ext cx="3909110" cy="4424515"/>
          </a:xfrm>
          <a:custGeom>
            <a:avLst/>
            <a:gdLst/>
            <a:ahLst/>
            <a:cxnLst/>
            <a:rect r="r" b="b" t="t" l="l"/>
            <a:pathLst>
              <a:path h="4424515" w="3909110">
                <a:moveTo>
                  <a:pt x="0" y="0"/>
                </a:moveTo>
                <a:lnTo>
                  <a:pt x="3909110" y="0"/>
                </a:lnTo>
                <a:lnTo>
                  <a:pt x="3909110" y="4424515"/>
                </a:lnTo>
                <a:lnTo>
                  <a:pt x="0" y="4424515"/>
                </a:lnTo>
                <a:lnTo>
                  <a:pt x="0" y="0"/>
                </a:lnTo>
                <a:close/>
              </a:path>
            </a:pathLst>
          </a:custGeom>
          <a:blipFill>
            <a:blip r:embed="rId10"/>
            <a:stretch>
              <a:fillRect l="-21185" t="0" r="-21185" b="0"/>
            </a:stretch>
          </a:blipFill>
        </p:spPr>
      </p:sp>
      <p:sp>
        <p:nvSpPr>
          <p:cNvPr name="TextBox 7" id="7"/>
          <p:cNvSpPr txBox="true"/>
          <p:nvPr/>
        </p:nvSpPr>
        <p:spPr>
          <a:xfrm rot="0">
            <a:off x="1028348" y="4591231"/>
            <a:ext cx="3065269" cy="4407256"/>
          </a:xfrm>
          <a:prstGeom prst="rect">
            <a:avLst/>
          </a:prstGeom>
        </p:spPr>
        <p:txBody>
          <a:bodyPr anchor="t" rtlCol="false" tIns="0" lIns="0" bIns="0" rIns="0">
            <a:spAutoFit/>
          </a:bodyPr>
          <a:lstStyle/>
          <a:p>
            <a:pPr algn="l">
              <a:lnSpc>
                <a:spcPts val="3600"/>
              </a:lnSpc>
            </a:pPr>
            <a:r>
              <a:rPr lang="en-US" b="true" sz="3000">
                <a:solidFill>
                  <a:srgbClr val="002060"/>
                </a:solidFill>
                <a:latin typeface="Calibri (MS) Bold"/>
                <a:ea typeface="Calibri (MS) Bold"/>
                <a:cs typeface="Calibri (MS) Bold"/>
                <a:sym typeface="Calibri (MS) Bold"/>
              </a:rPr>
              <a:t>Re-Engagement Campaigns </a:t>
            </a:r>
          </a:p>
          <a:p>
            <a:pPr algn="l">
              <a:lnSpc>
                <a:spcPts val="2520"/>
              </a:lnSpc>
            </a:pPr>
          </a:p>
          <a:p>
            <a:pPr algn="l">
              <a:lnSpc>
                <a:spcPts val="3240"/>
              </a:lnSpc>
            </a:pPr>
            <a:r>
              <a:rPr lang="en-US" sz="2700">
                <a:solidFill>
                  <a:srgbClr val="000000"/>
                </a:solidFill>
                <a:latin typeface="Calibri (MS)"/>
                <a:ea typeface="Calibri (MS)"/>
                <a:cs typeface="Calibri (MS)"/>
                <a:sym typeface="Calibri (MS)"/>
              </a:rPr>
              <a:t>Suggest targeted posts, hashtags, and users to follow based on past engagement, encouraging reconnection with the platform.</a:t>
            </a:r>
          </a:p>
        </p:txBody>
      </p:sp>
      <p:sp>
        <p:nvSpPr>
          <p:cNvPr name="TextBox 8" id="8"/>
          <p:cNvSpPr txBox="true"/>
          <p:nvPr/>
        </p:nvSpPr>
        <p:spPr>
          <a:xfrm rot="0">
            <a:off x="996435" y="1517030"/>
            <a:ext cx="15787830" cy="785765"/>
          </a:xfrm>
          <a:prstGeom prst="rect">
            <a:avLst/>
          </a:prstGeom>
        </p:spPr>
        <p:txBody>
          <a:bodyPr anchor="t" rtlCol="false" tIns="0" lIns="0" bIns="0" rIns="0">
            <a:spAutoFit/>
          </a:bodyPr>
          <a:lstStyle/>
          <a:p>
            <a:pPr algn="ctr">
              <a:lnSpc>
                <a:spcPts val="5759"/>
              </a:lnSpc>
            </a:pPr>
            <a:r>
              <a:rPr lang="en-US" b="true" sz="4800">
                <a:solidFill>
                  <a:srgbClr val="262626"/>
                </a:solidFill>
                <a:latin typeface="Century Gothic Paneuropean Bold"/>
                <a:ea typeface="Century Gothic Paneuropean Bold"/>
                <a:cs typeface="Century Gothic Paneuropean Bold"/>
                <a:sym typeface="Century Gothic Paneuropean Bold"/>
              </a:rPr>
              <a:t>USER RETENTION</a:t>
            </a:r>
          </a:p>
        </p:txBody>
      </p:sp>
      <p:sp>
        <p:nvSpPr>
          <p:cNvPr name="Freeform 9" id="9"/>
          <p:cNvSpPr/>
          <p:nvPr/>
        </p:nvSpPr>
        <p:spPr>
          <a:xfrm flipH="false" flipV="false" rot="0">
            <a:off x="4981240" y="4508921"/>
            <a:ext cx="3909110" cy="4424515"/>
          </a:xfrm>
          <a:custGeom>
            <a:avLst/>
            <a:gdLst/>
            <a:ahLst/>
            <a:cxnLst/>
            <a:rect r="r" b="b" t="t" l="l"/>
            <a:pathLst>
              <a:path h="4424515" w="3909110">
                <a:moveTo>
                  <a:pt x="0" y="0"/>
                </a:moveTo>
                <a:lnTo>
                  <a:pt x="3909111" y="0"/>
                </a:lnTo>
                <a:lnTo>
                  <a:pt x="3909111" y="4424515"/>
                </a:lnTo>
                <a:lnTo>
                  <a:pt x="0" y="4424515"/>
                </a:lnTo>
                <a:lnTo>
                  <a:pt x="0" y="0"/>
                </a:lnTo>
                <a:close/>
              </a:path>
            </a:pathLst>
          </a:custGeom>
          <a:blipFill>
            <a:blip r:embed="rId10"/>
            <a:stretch>
              <a:fillRect l="-21185" t="0" r="-21185" b="0"/>
            </a:stretch>
          </a:blipFill>
        </p:spPr>
      </p:sp>
      <p:sp>
        <p:nvSpPr>
          <p:cNvPr name="TextBox 10" id="10"/>
          <p:cNvSpPr txBox="true"/>
          <p:nvPr/>
        </p:nvSpPr>
        <p:spPr>
          <a:xfrm rot="0">
            <a:off x="5403161" y="4609929"/>
            <a:ext cx="3065269" cy="3991756"/>
          </a:xfrm>
          <a:prstGeom prst="rect">
            <a:avLst/>
          </a:prstGeom>
        </p:spPr>
        <p:txBody>
          <a:bodyPr anchor="t" rtlCol="false" tIns="0" lIns="0" bIns="0" rIns="0">
            <a:spAutoFit/>
          </a:bodyPr>
          <a:lstStyle/>
          <a:p>
            <a:pPr algn="l">
              <a:lnSpc>
                <a:spcPts val="3600"/>
              </a:lnSpc>
            </a:pPr>
            <a:r>
              <a:rPr lang="en-US" b="true" sz="3000">
                <a:solidFill>
                  <a:srgbClr val="002060"/>
                </a:solidFill>
                <a:latin typeface="Calibri (MS) Bold"/>
                <a:ea typeface="Calibri (MS) Bold"/>
                <a:cs typeface="Calibri (MS) Bold"/>
                <a:sym typeface="Calibri (MS) Bold"/>
              </a:rPr>
              <a:t>Exclusive Incentives</a:t>
            </a:r>
          </a:p>
          <a:p>
            <a:pPr algn="l">
              <a:lnSpc>
                <a:spcPts val="2520"/>
              </a:lnSpc>
            </a:pPr>
          </a:p>
          <a:p>
            <a:pPr algn="l">
              <a:lnSpc>
                <a:spcPts val="3240"/>
              </a:lnSpc>
            </a:pPr>
            <a:r>
              <a:rPr lang="en-US" sz="2700">
                <a:solidFill>
                  <a:srgbClr val="000000"/>
                </a:solidFill>
                <a:latin typeface="Calibri (MS)"/>
                <a:ea typeface="Calibri (MS)"/>
                <a:cs typeface="Calibri (MS)"/>
                <a:sym typeface="Calibri (MS)"/>
              </a:rPr>
              <a:t>Offer limited-time discounts on premium features to encourage users to return to the platform</a:t>
            </a:r>
          </a:p>
        </p:txBody>
      </p:sp>
      <p:sp>
        <p:nvSpPr>
          <p:cNvPr name="Freeform 11" id="11"/>
          <p:cNvSpPr/>
          <p:nvPr/>
        </p:nvSpPr>
        <p:spPr>
          <a:xfrm flipH="false" flipV="false" rot="0">
            <a:off x="9647057" y="4529461"/>
            <a:ext cx="3909110" cy="4424515"/>
          </a:xfrm>
          <a:custGeom>
            <a:avLst/>
            <a:gdLst/>
            <a:ahLst/>
            <a:cxnLst/>
            <a:rect r="r" b="b" t="t" l="l"/>
            <a:pathLst>
              <a:path h="4424515" w="3909110">
                <a:moveTo>
                  <a:pt x="0" y="0"/>
                </a:moveTo>
                <a:lnTo>
                  <a:pt x="3909111" y="0"/>
                </a:lnTo>
                <a:lnTo>
                  <a:pt x="3909111" y="4424515"/>
                </a:lnTo>
                <a:lnTo>
                  <a:pt x="0" y="4424515"/>
                </a:lnTo>
                <a:lnTo>
                  <a:pt x="0" y="0"/>
                </a:lnTo>
                <a:close/>
              </a:path>
            </a:pathLst>
          </a:custGeom>
          <a:blipFill>
            <a:blip r:embed="rId10"/>
            <a:stretch>
              <a:fillRect l="-21185" t="0" r="-21185" b="0"/>
            </a:stretch>
          </a:blipFill>
        </p:spPr>
      </p:sp>
      <p:sp>
        <p:nvSpPr>
          <p:cNvPr name="TextBox 12" id="12"/>
          <p:cNvSpPr txBox="true"/>
          <p:nvPr/>
        </p:nvSpPr>
        <p:spPr>
          <a:xfrm rot="0">
            <a:off x="9857994" y="4592888"/>
            <a:ext cx="3065269" cy="4361088"/>
          </a:xfrm>
          <a:prstGeom prst="rect">
            <a:avLst/>
          </a:prstGeom>
        </p:spPr>
        <p:txBody>
          <a:bodyPr anchor="t" rtlCol="false" tIns="0" lIns="0" bIns="0" rIns="0">
            <a:spAutoFit/>
          </a:bodyPr>
          <a:lstStyle/>
          <a:p>
            <a:pPr algn="l">
              <a:lnSpc>
                <a:spcPts val="3600"/>
              </a:lnSpc>
            </a:pPr>
            <a:r>
              <a:rPr lang="en-US" b="true" sz="3000">
                <a:solidFill>
                  <a:srgbClr val="002060"/>
                </a:solidFill>
                <a:latin typeface="Calibri (MS) Bold"/>
                <a:ea typeface="Calibri (MS) Bold"/>
                <a:cs typeface="Calibri (MS) Bold"/>
                <a:sym typeface="Calibri (MS) Bold"/>
              </a:rPr>
              <a:t>Content Discovery Aids</a:t>
            </a:r>
          </a:p>
          <a:p>
            <a:pPr algn="l">
              <a:lnSpc>
                <a:spcPts val="2520"/>
              </a:lnSpc>
            </a:pPr>
          </a:p>
          <a:p>
            <a:pPr algn="l">
              <a:lnSpc>
                <a:spcPts val="3240"/>
              </a:lnSpc>
            </a:pPr>
            <a:r>
              <a:rPr lang="en-US" sz="2700">
                <a:solidFill>
                  <a:srgbClr val="000000"/>
                </a:solidFill>
                <a:latin typeface="Calibri (MS)"/>
                <a:ea typeface="Calibri (MS)"/>
                <a:cs typeface="Calibri (MS)"/>
                <a:sym typeface="Calibri (MS)"/>
              </a:rPr>
              <a:t>Create brief tutorials highlighting new features and trends to help users navigate the platform after a break.</a:t>
            </a:r>
          </a:p>
        </p:txBody>
      </p:sp>
      <p:sp>
        <p:nvSpPr>
          <p:cNvPr name="Freeform 13" id="13"/>
          <p:cNvSpPr/>
          <p:nvPr/>
        </p:nvSpPr>
        <p:spPr>
          <a:xfrm flipH="false" flipV="false" rot="0">
            <a:off x="13890954" y="4529461"/>
            <a:ext cx="3909110" cy="4424515"/>
          </a:xfrm>
          <a:custGeom>
            <a:avLst/>
            <a:gdLst/>
            <a:ahLst/>
            <a:cxnLst/>
            <a:rect r="r" b="b" t="t" l="l"/>
            <a:pathLst>
              <a:path h="4424515" w="3909110">
                <a:moveTo>
                  <a:pt x="0" y="0"/>
                </a:moveTo>
                <a:lnTo>
                  <a:pt x="3909110" y="0"/>
                </a:lnTo>
                <a:lnTo>
                  <a:pt x="3909110" y="4424515"/>
                </a:lnTo>
                <a:lnTo>
                  <a:pt x="0" y="4424515"/>
                </a:lnTo>
                <a:lnTo>
                  <a:pt x="0" y="0"/>
                </a:lnTo>
                <a:close/>
              </a:path>
            </a:pathLst>
          </a:custGeom>
          <a:blipFill>
            <a:blip r:embed="rId10"/>
            <a:stretch>
              <a:fillRect l="-21185" t="0" r="-21185" b="0"/>
            </a:stretch>
          </a:blipFill>
        </p:spPr>
      </p:sp>
      <p:sp>
        <p:nvSpPr>
          <p:cNvPr name="TextBox 14" id="14"/>
          <p:cNvSpPr txBox="true"/>
          <p:nvPr/>
        </p:nvSpPr>
        <p:spPr>
          <a:xfrm rot="0">
            <a:off x="14312875" y="4507297"/>
            <a:ext cx="3065269" cy="4361088"/>
          </a:xfrm>
          <a:prstGeom prst="rect">
            <a:avLst/>
          </a:prstGeom>
        </p:spPr>
        <p:txBody>
          <a:bodyPr anchor="t" rtlCol="false" tIns="0" lIns="0" bIns="0" rIns="0">
            <a:spAutoFit/>
          </a:bodyPr>
          <a:lstStyle/>
          <a:p>
            <a:pPr algn="l">
              <a:lnSpc>
                <a:spcPts val="3600"/>
              </a:lnSpc>
            </a:pPr>
            <a:r>
              <a:rPr lang="en-US" b="true" sz="3000">
                <a:solidFill>
                  <a:srgbClr val="002060"/>
                </a:solidFill>
                <a:latin typeface="Calibri (MS) Bold"/>
                <a:ea typeface="Calibri (MS) Bold"/>
                <a:cs typeface="Calibri (MS) Bold"/>
                <a:sym typeface="Calibri (MS) Bold"/>
              </a:rPr>
              <a:t>Feedbacks and Surveys</a:t>
            </a:r>
          </a:p>
          <a:p>
            <a:pPr algn="l">
              <a:lnSpc>
                <a:spcPts val="2520"/>
              </a:lnSpc>
            </a:pPr>
          </a:p>
          <a:p>
            <a:pPr algn="l">
              <a:lnSpc>
                <a:spcPts val="3240"/>
              </a:lnSpc>
            </a:pPr>
            <a:r>
              <a:rPr lang="en-US" sz="2700">
                <a:solidFill>
                  <a:srgbClr val="000000"/>
                </a:solidFill>
                <a:latin typeface="Calibri (MS)"/>
                <a:ea typeface="Calibri (MS)"/>
                <a:cs typeface="Calibri (MS)"/>
                <a:sym typeface="Calibri (MS)"/>
              </a:rPr>
              <a:t>Send brief surveys to inactive users to understand their disengagement, offering incentives for insights to inform retention strategies.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53556" y="3055238"/>
            <a:ext cx="1075068" cy="1075068"/>
          </a:xfrm>
          <a:custGeom>
            <a:avLst/>
            <a:gdLst/>
            <a:ahLst/>
            <a:cxnLst/>
            <a:rect r="r" b="b" t="t" l="l"/>
            <a:pathLst>
              <a:path h="1075068" w="1075068">
                <a:moveTo>
                  <a:pt x="0" y="0"/>
                </a:moveTo>
                <a:lnTo>
                  <a:pt x="1075068" y="0"/>
                </a:lnTo>
                <a:lnTo>
                  <a:pt x="1075068" y="1075068"/>
                </a:lnTo>
                <a:lnTo>
                  <a:pt x="0" y="10750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621528" y="3101912"/>
            <a:ext cx="1076971" cy="1076971"/>
          </a:xfrm>
          <a:custGeom>
            <a:avLst/>
            <a:gdLst/>
            <a:ahLst/>
            <a:cxnLst/>
            <a:rect r="r" b="b" t="t" l="l"/>
            <a:pathLst>
              <a:path h="1076971" w="1076971">
                <a:moveTo>
                  <a:pt x="0" y="0"/>
                </a:moveTo>
                <a:lnTo>
                  <a:pt x="1076971" y="0"/>
                </a:lnTo>
                <a:lnTo>
                  <a:pt x="1076971" y="1076970"/>
                </a:lnTo>
                <a:lnTo>
                  <a:pt x="0" y="10769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010716" y="3253803"/>
            <a:ext cx="925079" cy="925079"/>
          </a:xfrm>
          <a:custGeom>
            <a:avLst/>
            <a:gdLst/>
            <a:ahLst/>
            <a:cxnLst/>
            <a:rect r="r" b="b" t="t" l="l"/>
            <a:pathLst>
              <a:path h="925079" w="925079">
                <a:moveTo>
                  <a:pt x="0" y="0"/>
                </a:moveTo>
                <a:lnTo>
                  <a:pt x="925079" y="0"/>
                </a:lnTo>
                <a:lnTo>
                  <a:pt x="925079" y="925079"/>
                </a:lnTo>
                <a:lnTo>
                  <a:pt x="0" y="9250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39018" y="3177063"/>
            <a:ext cx="1079139" cy="945718"/>
          </a:xfrm>
          <a:custGeom>
            <a:avLst/>
            <a:gdLst/>
            <a:ahLst/>
            <a:cxnLst/>
            <a:rect r="r" b="b" t="t" l="l"/>
            <a:pathLst>
              <a:path h="945718" w="1079139">
                <a:moveTo>
                  <a:pt x="0" y="0"/>
                </a:moveTo>
                <a:lnTo>
                  <a:pt x="1079139" y="0"/>
                </a:lnTo>
                <a:lnTo>
                  <a:pt x="1079139" y="945718"/>
                </a:lnTo>
                <a:lnTo>
                  <a:pt x="0" y="9457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606427" y="4573972"/>
            <a:ext cx="3909110" cy="4424515"/>
          </a:xfrm>
          <a:custGeom>
            <a:avLst/>
            <a:gdLst/>
            <a:ahLst/>
            <a:cxnLst/>
            <a:rect r="r" b="b" t="t" l="l"/>
            <a:pathLst>
              <a:path h="4424515" w="3909110">
                <a:moveTo>
                  <a:pt x="0" y="0"/>
                </a:moveTo>
                <a:lnTo>
                  <a:pt x="3909110" y="0"/>
                </a:lnTo>
                <a:lnTo>
                  <a:pt x="3909110" y="4424515"/>
                </a:lnTo>
                <a:lnTo>
                  <a:pt x="0" y="4424515"/>
                </a:lnTo>
                <a:lnTo>
                  <a:pt x="0" y="0"/>
                </a:lnTo>
                <a:close/>
              </a:path>
            </a:pathLst>
          </a:custGeom>
          <a:blipFill>
            <a:blip r:embed="rId10"/>
            <a:stretch>
              <a:fillRect l="-21185" t="0" r="-21185" b="0"/>
            </a:stretch>
          </a:blipFill>
        </p:spPr>
      </p:sp>
      <p:sp>
        <p:nvSpPr>
          <p:cNvPr name="Freeform 7" id="7"/>
          <p:cNvSpPr/>
          <p:nvPr/>
        </p:nvSpPr>
        <p:spPr>
          <a:xfrm flipH="false" flipV="false" rot="0">
            <a:off x="4981240" y="4508921"/>
            <a:ext cx="3909110" cy="4424515"/>
          </a:xfrm>
          <a:custGeom>
            <a:avLst/>
            <a:gdLst/>
            <a:ahLst/>
            <a:cxnLst/>
            <a:rect r="r" b="b" t="t" l="l"/>
            <a:pathLst>
              <a:path h="4424515" w="3909110">
                <a:moveTo>
                  <a:pt x="0" y="0"/>
                </a:moveTo>
                <a:lnTo>
                  <a:pt x="3909111" y="0"/>
                </a:lnTo>
                <a:lnTo>
                  <a:pt x="3909111" y="4424515"/>
                </a:lnTo>
                <a:lnTo>
                  <a:pt x="0" y="4424515"/>
                </a:lnTo>
                <a:lnTo>
                  <a:pt x="0" y="0"/>
                </a:lnTo>
                <a:close/>
              </a:path>
            </a:pathLst>
          </a:custGeom>
          <a:blipFill>
            <a:blip r:embed="rId10"/>
            <a:stretch>
              <a:fillRect l="-21185" t="0" r="-21185" b="0"/>
            </a:stretch>
          </a:blipFill>
        </p:spPr>
      </p:sp>
      <p:sp>
        <p:nvSpPr>
          <p:cNvPr name="Freeform 8" id="8"/>
          <p:cNvSpPr/>
          <p:nvPr/>
        </p:nvSpPr>
        <p:spPr>
          <a:xfrm flipH="false" flipV="false" rot="0">
            <a:off x="9647057" y="4529461"/>
            <a:ext cx="3909110" cy="4424515"/>
          </a:xfrm>
          <a:custGeom>
            <a:avLst/>
            <a:gdLst/>
            <a:ahLst/>
            <a:cxnLst/>
            <a:rect r="r" b="b" t="t" l="l"/>
            <a:pathLst>
              <a:path h="4424515" w="3909110">
                <a:moveTo>
                  <a:pt x="0" y="0"/>
                </a:moveTo>
                <a:lnTo>
                  <a:pt x="3909111" y="0"/>
                </a:lnTo>
                <a:lnTo>
                  <a:pt x="3909111" y="4424515"/>
                </a:lnTo>
                <a:lnTo>
                  <a:pt x="0" y="4424515"/>
                </a:lnTo>
                <a:lnTo>
                  <a:pt x="0" y="0"/>
                </a:lnTo>
                <a:close/>
              </a:path>
            </a:pathLst>
          </a:custGeom>
          <a:blipFill>
            <a:blip r:embed="rId10"/>
            <a:stretch>
              <a:fillRect l="-21185" t="0" r="-21185" b="0"/>
            </a:stretch>
          </a:blipFill>
        </p:spPr>
      </p:sp>
      <p:sp>
        <p:nvSpPr>
          <p:cNvPr name="Freeform 9" id="9"/>
          <p:cNvSpPr/>
          <p:nvPr/>
        </p:nvSpPr>
        <p:spPr>
          <a:xfrm flipH="false" flipV="false" rot="0">
            <a:off x="13890954" y="4529461"/>
            <a:ext cx="3909110" cy="4424515"/>
          </a:xfrm>
          <a:custGeom>
            <a:avLst/>
            <a:gdLst/>
            <a:ahLst/>
            <a:cxnLst/>
            <a:rect r="r" b="b" t="t" l="l"/>
            <a:pathLst>
              <a:path h="4424515" w="3909110">
                <a:moveTo>
                  <a:pt x="0" y="0"/>
                </a:moveTo>
                <a:lnTo>
                  <a:pt x="3909110" y="0"/>
                </a:lnTo>
                <a:lnTo>
                  <a:pt x="3909110" y="4424515"/>
                </a:lnTo>
                <a:lnTo>
                  <a:pt x="0" y="4424515"/>
                </a:lnTo>
                <a:lnTo>
                  <a:pt x="0" y="0"/>
                </a:lnTo>
                <a:close/>
              </a:path>
            </a:pathLst>
          </a:custGeom>
          <a:blipFill>
            <a:blip r:embed="rId10"/>
            <a:stretch>
              <a:fillRect l="-21185" t="0" r="-21185" b="0"/>
            </a:stretch>
          </a:blipFill>
        </p:spPr>
      </p:sp>
      <p:sp>
        <p:nvSpPr>
          <p:cNvPr name="TextBox 10" id="10"/>
          <p:cNvSpPr txBox="true"/>
          <p:nvPr/>
        </p:nvSpPr>
        <p:spPr>
          <a:xfrm rot="0">
            <a:off x="1028348" y="4591231"/>
            <a:ext cx="3065269" cy="3991756"/>
          </a:xfrm>
          <a:prstGeom prst="rect">
            <a:avLst/>
          </a:prstGeom>
        </p:spPr>
        <p:txBody>
          <a:bodyPr anchor="t" rtlCol="false" tIns="0" lIns="0" bIns="0" rIns="0">
            <a:spAutoFit/>
          </a:bodyPr>
          <a:lstStyle/>
          <a:p>
            <a:pPr algn="l">
              <a:lnSpc>
                <a:spcPts val="3600"/>
              </a:lnSpc>
            </a:pPr>
            <a:r>
              <a:rPr lang="en-US" b="true" sz="3000">
                <a:solidFill>
                  <a:srgbClr val="002060"/>
                </a:solidFill>
                <a:latin typeface="Calibri (MS) Bold"/>
                <a:ea typeface="Calibri (MS) Bold"/>
                <a:cs typeface="Calibri (MS) Bold"/>
                <a:sym typeface="Calibri (MS) Bold"/>
              </a:rPr>
              <a:t>Tailor Onboarding Experience</a:t>
            </a:r>
          </a:p>
          <a:p>
            <a:pPr algn="l">
              <a:lnSpc>
                <a:spcPts val="2520"/>
              </a:lnSpc>
            </a:pPr>
          </a:p>
          <a:p>
            <a:pPr algn="l">
              <a:lnSpc>
                <a:spcPts val="3240"/>
              </a:lnSpc>
            </a:pPr>
            <a:r>
              <a:rPr lang="en-US" sz="2700">
                <a:solidFill>
                  <a:srgbClr val="000000"/>
                </a:solidFill>
                <a:latin typeface="Calibri (MS)"/>
                <a:ea typeface="Calibri (MS)"/>
                <a:cs typeface="Calibri (MS)"/>
                <a:sym typeface="Calibri (MS)"/>
              </a:rPr>
              <a:t>Design a tailored onboarding for new users that highlights features, popular tags, and success stories.</a:t>
            </a:r>
          </a:p>
        </p:txBody>
      </p:sp>
      <p:sp>
        <p:nvSpPr>
          <p:cNvPr name="TextBox 11" id="11"/>
          <p:cNvSpPr txBox="true"/>
          <p:nvPr/>
        </p:nvSpPr>
        <p:spPr>
          <a:xfrm rot="0">
            <a:off x="1250085" y="1276115"/>
            <a:ext cx="15787830" cy="785765"/>
          </a:xfrm>
          <a:prstGeom prst="rect">
            <a:avLst/>
          </a:prstGeom>
        </p:spPr>
        <p:txBody>
          <a:bodyPr anchor="t" rtlCol="false" tIns="0" lIns="0" bIns="0" rIns="0">
            <a:spAutoFit/>
          </a:bodyPr>
          <a:lstStyle/>
          <a:p>
            <a:pPr algn="ctr">
              <a:lnSpc>
                <a:spcPts val="5759"/>
              </a:lnSpc>
            </a:pPr>
            <a:r>
              <a:rPr lang="en-US" b="true" sz="4800">
                <a:solidFill>
                  <a:srgbClr val="262626"/>
                </a:solidFill>
                <a:latin typeface="Century Gothic Paneuropean Bold"/>
                <a:ea typeface="Century Gothic Paneuropean Bold"/>
                <a:cs typeface="Century Gothic Paneuropean Bold"/>
                <a:sym typeface="Century Gothic Paneuropean Bold"/>
              </a:rPr>
              <a:t>USER ACQUISITION</a:t>
            </a:r>
          </a:p>
        </p:txBody>
      </p:sp>
      <p:sp>
        <p:nvSpPr>
          <p:cNvPr name="TextBox 12" id="12"/>
          <p:cNvSpPr txBox="true"/>
          <p:nvPr/>
        </p:nvSpPr>
        <p:spPr>
          <a:xfrm rot="0">
            <a:off x="5147835" y="4592888"/>
            <a:ext cx="3065269" cy="3576256"/>
          </a:xfrm>
          <a:prstGeom prst="rect">
            <a:avLst/>
          </a:prstGeom>
        </p:spPr>
        <p:txBody>
          <a:bodyPr anchor="t" rtlCol="false" tIns="0" lIns="0" bIns="0" rIns="0">
            <a:spAutoFit/>
          </a:bodyPr>
          <a:lstStyle/>
          <a:p>
            <a:pPr algn="l">
              <a:lnSpc>
                <a:spcPts val="3600"/>
              </a:lnSpc>
            </a:pPr>
            <a:r>
              <a:rPr lang="en-US" b="true" sz="3000">
                <a:solidFill>
                  <a:srgbClr val="002060"/>
                </a:solidFill>
                <a:latin typeface="Calibri (MS) Bold"/>
                <a:ea typeface="Calibri (MS) Bold"/>
                <a:cs typeface="Calibri (MS) Bold"/>
                <a:sym typeface="Calibri (MS) Bold"/>
              </a:rPr>
              <a:t>Tag Education Campaigns</a:t>
            </a:r>
          </a:p>
          <a:p>
            <a:pPr algn="l">
              <a:lnSpc>
                <a:spcPts val="2520"/>
              </a:lnSpc>
            </a:pPr>
          </a:p>
          <a:p>
            <a:pPr algn="l">
              <a:lnSpc>
                <a:spcPts val="3240"/>
              </a:lnSpc>
            </a:pPr>
            <a:r>
              <a:rPr lang="en-US" sz="2700">
                <a:solidFill>
                  <a:srgbClr val="000000"/>
                </a:solidFill>
                <a:latin typeface="Calibri (MS)"/>
                <a:ea typeface="Calibri (MS)"/>
                <a:cs typeface="Calibri (MS)"/>
                <a:sym typeface="Calibri (MS)"/>
              </a:rPr>
              <a:t>Launch initiatives to educate users on the benefits of tags through blog posts and video tutorials.</a:t>
            </a:r>
          </a:p>
        </p:txBody>
      </p:sp>
      <p:sp>
        <p:nvSpPr>
          <p:cNvPr name="TextBox 13" id="13"/>
          <p:cNvSpPr txBox="true"/>
          <p:nvPr/>
        </p:nvSpPr>
        <p:spPr>
          <a:xfrm rot="0">
            <a:off x="9857994" y="4592888"/>
            <a:ext cx="3065269" cy="3899430"/>
          </a:xfrm>
          <a:prstGeom prst="rect">
            <a:avLst/>
          </a:prstGeom>
        </p:spPr>
        <p:txBody>
          <a:bodyPr anchor="t" rtlCol="false" tIns="0" lIns="0" bIns="0" rIns="0">
            <a:spAutoFit/>
          </a:bodyPr>
          <a:lstStyle/>
          <a:p>
            <a:pPr algn="l">
              <a:lnSpc>
                <a:spcPts val="3600"/>
              </a:lnSpc>
            </a:pPr>
            <a:r>
              <a:rPr lang="en-US" b="true" sz="3000">
                <a:solidFill>
                  <a:srgbClr val="002060"/>
                </a:solidFill>
                <a:latin typeface="Calibri (MS) Bold"/>
                <a:ea typeface="Calibri (MS) Bold"/>
                <a:cs typeface="Calibri (MS) Bold"/>
                <a:sym typeface="Calibri (MS) Bold"/>
              </a:rPr>
              <a:t>Referral Incentives</a:t>
            </a:r>
          </a:p>
          <a:p>
            <a:pPr algn="l">
              <a:lnSpc>
                <a:spcPts val="2520"/>
              </a:lnSpc>
            </a:pPr>
          </a:p>
          <a:p>
            <a:pPr algn="l">
              <a:lnSpc>
                <a:spcPts val="2520"/>
              </a:lnSpc>
            </a:pPr>
          </a:p>
          <a:p>
            <a:pPr algn="l">
              <a:lnSpc>
                <a:spcPts val="3240"/>
              </a:lnSpc>
            </a:pPr>
            <a:r>
              <a:rPr lang="en-US" sz="2700">
                <a:solidFill>
                  <a:srgbClr val="000000"/>
                </a:solidFill>
                <a:latin typeface="Calibri (MS)"/>
                <a:ea typeface="Calibri (MS)"/>
                <a:cs typeface="Calibri (MS)"/>
                <a:sym typeface="Calibri (MS)"/>
              </a:rPr>
              <a:t>Launch a referral program rewarding users with discounts or exclusive content for bringing in new members.</a:t>
            </a:r>
          </a:p>
        </p:txBody>
      </p:sp>
      <p:sp>
        <p:nvSpPr>
          <p:cNvPr name="TextBox 14" id="14"/>
          <p:cNvSpPr txBox="true"/>
          <p:nvPr/>
        </p:nvSpPr>
        <p:spPr>
          <a:xfrm rot="0">
            <a:off x="14312875" y="4507297"/>
            <a:ext cx="3065269" cy="3945588"/>
          </a:xfrm>
          <a:prstGeom prst="rect">
            <a:avLst/>
          </a:prstGeom>
        </p:spPr>
        <p:txBody>
          <a:bodyPr anchor="t" rtlCol="false" tIns="0" lIns="0" bIns="0" rIns="0">
            <a:spAutoFit/>
          </a:bodyPr>
          <a:lstStyle/>
          <a:p>
            <a:pPr algn="l">
              <a:lnSpc>
                <a:spcPts val="3600"/>
              </a:lnSpc>
            </a:pPr>
            <a:r>
              <a:rPr lang="en-US" b="true" sz="3000">
                <a:solidFill>
                  <a:srgbClr val="002060"/>
                </a:solidFill>
                <a:latin typeface="Calibri (MS) Bold"/>
                <a:ea typeface="Calibri (MS) Bold"/>
                <a:cs typeface="Calibri (MS) Bold"/>
                <a:sym typeface="Calibri (MS) Bold"/>
              </a:rPr>
              <a:t>Engagement Boosters</a:t>
            </a:r>
          </a:p>
          <a:p>
            <a:pPr algn="l">
              <a:lnSpc>
                <a:spcPts val="2520"/>
              </a:lnSpc>
            </a:pPr>
          </a:p>
          <a:p>
            <a:pPr algn="l">
              <a:lnSpc>
                <a:spcPts val="3240"/>
              </a:lnSpc>
            </a:pPr>
            <a:r>
              <a:rPr lang="en-US" sz="2700">
                <a:solidFill>
                  <a:srgbClr val="000000"/>
                </a:solidFill>
                <a:latin typeface="Calibri (MS)"/>
                <a:ea typeface="Calibri (MS)"/>
                <a:cs typeface="Calibri (MS)"/>
                <a:sym typeface="Calibri (MS)"/>
              </a:rPr>
              <a:t>Send personalized emails highlighting new features, trending content, and tutorials to boost engagement.</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6427" y="4573972"/>
            <a:ext cx="3909110" cy="4424515"/>
          </a:xfrm>
          <a:custGeom>
            <a:avLst/>
            <a:gdLst/>
            <a:ahLst/>
            <a:cxnLst/>
            <a:rect r="r" b="b" t="t" l="l"/>
            <a:pathLst>
              <a:path h="4424515" w="3909110">
                <a:moveTo>
                  <a:pt x="0" y="0"/>
                </a:moveTo>
                <a:lnTo>
                  <a:pt x="3909110" y="0"/>
                </a:lnTo>
                <a:lnTo>
                  <a:pt x="3909110" y="4424515"/>
                </a:lnTo>
                <a:lnTo>
                  <a:pt x="0" y="4424515"/>
                </a:lnTo>
                <a:lnTo>
                  <a:pt x="0" y="0"/>
                </a:lnTo>
                <a:close/>
              </a:path>
            </a:pathLst>
          </a:custGeom>
          <a:blipFill>
            <a:blip r:embed="rId2"/>
            <a:stretch>
              <a:fillRect l="-21185" t="0" r="-21185" b="0"/>
            </a:stretch>
          </a:blipFill>
        </p:spPr>
      </p:sp>
      <p:sp>
        <p:nvSpPr>
          <p:cNvPr name="Freeform 3" id="3"/>
          <p:cNvSpPr/>
          <p:nvPr/>
        </p:nvSpPr>
        <p:spPr>
          <a:xfrm flipH="false" flipV="false" rot="0">
            <a:off x="4981240" y="4508921"/>
            <a:ext cx="3909110" cy="4424515"/>
          </a:xfrm>
          <a:custGeom>
            <a:avLst/>
            <a:gdLst/>
            <a:ahLst/>
            <a:cxnLst/>
            <a:rect r="r" b="b" t="t" l="l"/>
            <a:pathLst>
              <a:path h="4424515" w="3909110">
                <a:moveTo>
                  <a:pt x="0" y="0"/>
                </a:moveTo>
                <a:lnTo>
                  <a:pt x="3909111" y="0"/>
                </a:lnTo>
                <a:lnTo>
                  <a:pt x="3909111" y="4424515"/>
                </a:lnTo>
                <a:lnTo>
                  <a:pt x="0" y="4424515"/>
                </a:lnTo>
                <a:lnTo>
                  <a:pt x="0" y="0"/>
                </a:lnTo>
                <a:close/>
              </a:path>
            </a:pathLst>
          </a:custGeom>
          <a:blipFill>
            <a:blip r:embed="rId2"/>
            <a:stretch>
              <a:fillRect l="-21185" t="0" r="-21185" b="0"/>
            </a:stretch>
          </a:blipFill>
        </p:spPr>
      </p:sp>
      <p:sp>
        <p:nvSpPr>
          <p:cNvPr name="Freeform 4" id="4"/>
          <p:cNvSpPr/>
          <p:nvPr/>
        </p:nvSpPr>
        <p:spPr>
          <a:xfrm flipH="false" flipV="false" rot="0">
            <a:off x="9647057" y="4529461"/>
            <a:ext cx="3909110" cy="4424515"/>
          </a:xfrm>
          <a:custGeom>
            <a:avLst/>
            <a:gdLst/>
            <a:ahLst/>
            <a:cxnLst/>
            <a:rect r="r" b="b" t="t" l="l"/>
            <a:pathLst>
              <a:path h="4424515" w="3909110">
                <a:moveTo>
                  <a:pt x="0" y="0"/>
                </a:moveTo>
                <a:lnTo>
                  <a:pt x="3909111" y="0"/>
                </a:lnTo>
                <a:lnTo>
                  <a:pt x="3909111" y="4424515"/>
                </a:lnTo>
                <a:lnTo>
                  <a:pt x="0" y="4424515"/>
                </a:lnTo>
                <a:lnTo>
                  <a:pt x="0" y="0"/>
                </a:lnTo>
                <a:close/>
              </a:path>
            </a:pathLst>
          </a:custGeom>
          <a:blipFill>
            <a:blip r:embed="rId2"/>
            <a:stretch>
              <a:fillRect l="-21185" t="0" r="-21185" b="0"/>
            </a:stretch>
          </a:blipFill>
        </p:spPr>
      </p:sp>
      <p:sp>
        <p:nvSpPr>
          <p:cNvPr name="Freeform 5" id="5"/>
          <p:cNvSpPr/>
          <p:nvPr/>
        </p:nvSpPr>
        <p:spPr>
          <a:xfrm flipH="false" flipV="false" rot="0">
            <a:off x="13890954" y="4529461"/>
            <a:ext cx="3909110" cy="4424515"/>
          </a:xfrm>
          <a:custGeom>
            <a:avLst/>
            <a:gdLst/>
            <a:ahLst/>
            <a:cxnLst/>
            <a:rect r="r" b="b" t="t" l="l"/>
            <a:pathLst>
              <a:path h="4424515" w="3909110">
                <a:moveTo>
                  <a:pt x="0" y="0"/>
                </a:moveTo>
                <a:lnTo>
                  <a:pt x="3909110" y="0"/>
                </a:lnTo>
                <a:lnTo>
                  <a:pt x="3909110" y="4424515"/>
                </a:lnTo>
                <a:lnTo>
                  <a:pt x="0" y="4424515"/>
                </a:lnTo>
                <a:lnTo>
                  <a:pt x="0" y="0"/>
                </a:lnTo>
                <a:close/>
              </a:path>
            </a:pathLst>
          </a:custGeom>
          <a:blipFill>
            <a:blip r:embed="rId2"/>
            <a:stretch>
              <a:fillRect l="-21185" t="0" r="-21185" b="0"/>
            </a:stretch>
          </a:blipFill>
        </p:spPr>
      </p:sp>
      <p:sp>
        <p:nvSpPr>
          <p:cNvPr name="TextBox 6" id="6"/>
          <p:cNvSpPr txBox="true"/>
          <p:nvPr/>
        </p:nvSpPr>
        <p:spPr>
          <a:xfrm rot="0">
            <a:off x="1028348" y="4591231"/>
            <a:ext cx="3065269" cy="3576256"/>
          </a:xfrm>
          <a:prstGeom prst="rect">
            <a:avLst/>
          </a:prstGeom>
        </p:spPr>
        <p:txBody>
          <a:bodyPr anchor="t" rtlCol="false" tIns="0" lIns="0" bIns="0" rIns="0">
            <a:spAutoFit/>
          </a:bodyPr>
          <a:lstStyle/>
          <a:p>
            <a:pPr algn="l">
              <a:lnSpc>
                <a:spcPts val="3600"/>
              </a:lnSpc>
            </a:pPr>
            <a:r>
              <a:rPr lang="en-US" b="true" sz="3000">
                <a:solidFill>
                  <a:srgbClr val="002060"/>
                </a:solidFill>
                <a:latin typeface="Calibri (MS) Bold"/>
                <a:ea typeface="Calibri (MS) Bold"/>
                <a:cs typeface="Calibri (MS) Bold"/>
                <a:sym typeface="Calibri (MS) Bold"/>
              </a:rPr>
              <a:t>User Recognition</a:t>
            </a:r>
          </a:p>
          <a:p>
            <a:pPr algn="l">
              <a:lnSpc>
                <a:spcPts val="2520"/>
              </a:lnSpc>
            </a:pPr>
          </a:p>
          <a:p>
            <a:pPr algn="l">
              <a:lnSpc>
                <a:spcPts val="2520"/>
              </a:lnSpc>
            </a:pPr>
          </a:p>
          <a:p>
            <a:pPr algn="l">
              <a:lnSpc>
                <a:spcPts val="3240"/>
              </a:lnSpc>
            </a:pPr>
            <a:r>
              <a:rPr lang="en-US" sz="2700">
                <a:solidFill>
                  <a:srgbClr val="000000"/>
                </a:solidFill>
                <a:latin typeface="Calibri (MS)"/>
                <a:ea typeface="Calibri (MS)"/>
                <a:cs typeface="Calibri (MS)"/>
                <a:sym typeface="Calibri (MS)"/>
              </a:rPr>
              <a:t>Introduce awards like ‘User of the Month’ and hold photo contests to boost engagement.</a:t>
            </a:r>
          </a:p>
        </p:txBody>
      </p:sp>
      <p:sp>
        <p:nvSpPr>
          <p:cNvPr name="TextBox 7" id="7"/>
          <p:cNvSpPr txBox="true"/>
          <p:nvPr/>
        </p:nvSpPr>
        <p:spPr>
          <a:xfrm rot="0">
            <a:off x="1028348" y="1210361"/>
            <a:ext cx="15787830" cy="785765"/>
          </a:xfrm>
          <a:prstGeom prst="rect">
            <a:avLst/>
          </a:prstGeom>
        </p:spPr>
        <p:txBody>
          <a:bodyPr anchor="t" rtlCol="false" tIns="0" lIns="0" bIns="0" rIns="0">
            <a:spAutoFit/>
          </a:bodyPr>
          <a:lstStyle/>
          <a:p>
            <a:pPr algn="ctr">
              <a:lnSpc>
                <a:spcPts val="5759"/>
              </a:lnSpc>
            </a:pPr>
            <a:r>
              <a:rPr lang="en-US" b="true" sz="4800">
                <a:solidFill>
                  <a:srgbClr val="262626"/>
                </a:solidFill>
                <a:latin typeface="Century Gothic Paneuropean Bold"/>
                <a:ea typeface="Century Gothic Paneuropean Bold"/>
                <a:cs typeface="Century Gothic Paneuropean Bold"/>
                <a:sym typeface="Century Gothic Paneuropean Bold"/>
              </a:rPr>
              <a:t>USER ENGAGEMENT</a:t>
            </a:r>
          </a:p>
        </p:txBody>
      </p:sp>
      <p:sp>
        <p:nvSpPr>
          <p:cNvPr name="TextBox 8" id="8"/>
          <p:cNvSpPr txBox="true"/>
          <p:nvPr/>
        </p:nvSpPr>
        <p:spPr>
          <a:xfrm rot="0">
            <a:off x="5403161" y="4609929"/>
            <a:ext cx="3065269" cy="3991756"/>
          </a:xfrm>
          <a:prstGeom prst="rect">
            <a:avLst/>
          </a:prstGeom>
        </p:spPr>
        <p:txBody>
          <a:bodyPr anchor="t" rtlCol="false" tIns="0" lIns="0" bIns="0" rIns="0">
            <a:spAutoFit/>
          </a:bodyPr>
          <a:lstStyle/>
          <a:p>
            <a:pPr algn="l">
              <a:lnSpc>
                <a:spcPts val="3600"/>
              </a:lnSpc>
            </a:pPr>
            <a:r>
              <a:rPr lang="en-US" b="true" sz="3000">
                <a:solidFill>
                  <a:srgbClr val="002060"/>
                </a:solidFill>
                <a:latin typeface="Calibri (MS) Bold"/>
                <a:ea typeface="Calibri (MS) Bold"/>
                <a:cs typeface="Calibri (MS) Bold"/>
                <a:sym typeface="Calibri (MS) Bold"/>
              </a:rPr>
              <a:t>Educational Resources</a:t>
            </a:r>
          </a:p>
          <a:p>
            <a:pPr algn="l">
              <a:lnSpc>
                <a:spcPts val="2520"/>
              </a:lnSpc>
            </a:pPr>
          </a:p>
          <a:p>
            <a:pPr algn="l">
              <a:lnSpc>
                <a:spcPts val="3240"/>
              </a:lnSpc>
            </a:pPr>
            <a:r>
              <a:rPr lang="en-US" sz="2700">
                <a:solidFill>
                  <a:srgbClr val="000000"/>
                </a:solidFill>
                <a:latin typeface="Calibri (MS)"/>
                <a:ea typeface="Calibri (MS)"/>
                <a:cs typeface="Calibri (MS)"/>
                <a:sym typeface="Calibri (MS)"/>
              </a:rPr>
              <a:t>Offer tutorials and webinars on maximizing engagement and using platform features effectively.</a:t>
            </a:r>
          </a:p>
        </p:txBody>
      </p:sp>
      <p:sp>
        <p:nvSpPr>
          <p:cNvPr name="TextBox 9" id="9"/>
          <p:cNvSpPr txBox="true"/>
          <p:nvPr/>
        </p:nvSpPr>
        <p:spPr>
          <a:xfrm rot="0">
            <a:off x="9857994" y="4592888"/>
            <a:ext cx="3065269" cy="3945588"/>
          </a:xfrm>
          <a:prstGeom prst="rect">
            <a:avLst/>
          </a:prstGeom>
        </p:spPr>
        <p:txBody>
          <a:bodyPr anchor="t" rtlCol="false" tIns="0" lIns="0" bIns="0" rIns="0">
            <a:spAutoFit/>
          </a:bodyPr>
          <a:lstStyle/>
          <a:p>
            <a:pPr algn="l">
              <a:lnSpc>
                <a:spcPts val="3600"/>
              </a:lnSpc>
            </a:pPr>
            <a:r>
              <a:rPr lang="en-US" b="true" sz="3000">
                <a:solidFill>
                  <a:srgbClr val="002060"/>
                </a:solidFill>
                <a:latin typeface="Calibri (MS) Bold"/>
                <a:ea typeface="Calibri (MS) Bold"/>
                <a:cs typeface="Calibri (MS) Bold"/>
                <a:sym typeface="Calibri (MS) Bold"/>
              </a:rPr>
              <a:t>Community Initiatives</a:t>
            </a:r>
          </a:p>
          <a:p>
            <a:pPr algn="l">
              <a:lnSpc>
                <a:spcPts val="2520"/>
              </a:lnSpc>
            </a:pPr>
          </a:p>
          <a:p>
            <a:pPr algn="l">
              <a:lnSpc>
                <a:spcPts val="3240"/>
              </a:lnSpc>
            </a:pPr>
            <a:r>
              <a:rPr lang="en-US" sz="2700">
                <a:solidFill>
                  <a:srgbClr val="000000"/>
                </a:solidFill>
                <a:latin typeface="Calibri (MS)"/>
                <a:ea typeface="Calibri (MS)"/>
                <a:cs typeface="Calibri (MS)"/>
                <a:sym typeface="Calibri (MS)"/>
              </a:rPr>
              <a:t>Create forums and social events, and launch an ambassador program to promote the platform.</a:t>
            </a:r>
          </a:p>
        </p:txBody>
      </p:sp>
      <p:sp>
        <p:nvSpPr>
          <p:cNvPr name="TextBox 10" id="10"/>
          <p:cNvSpPr txBox="true"/>
          <p:nvPr/>
        </p:nvSpPr>
        <p:spPr>
          <a:xfrm rot="0">
            <a:off x="14312875" y="4507297"/>
            <a:ext cx="3065269" cy="3530098"/>
          </a:xfrm>
          <a:prstGeom prst="rect">
            <a:avLst/>
          </a:prstGeom>
        </p:spPr>
        <p:txBody>
          <a:bodyPr anchor="t" rtlCol="false" tIns="0" lIns="0" bIns="0" rIns="0">
            <a:spAutoFit/>
          </a:bodyPr>
          <a:lstStyle/>
          <a:p>
            <a:pPr algn="l">
              <a:lnSpc>
                <a:spcPts val="3600"/>
              </a:lnSpc>
            </a:pPr>
            <a:r>
              <a:rPr lang="en-US" b="true" sz="3000">
                <a:solidFill>
                  <a:srgbClr val="002060"/>
                </a:solidFill>
                <a:latin typeface="Calibri (MS) Bold"/>
                <a:ea typeface="Calibri (MS) Bold"/>
                <a:cs typeface="Calibri (MS) Bold"/>
                <a:sym typeface="Calibri (MS) Bold"/>
              </a:rPr>
              <a:t>Influencer Collaborations</a:t>
            </a:r>
          </a:p>
          <a:p>
            <a:pPr algn="l">
              <a:lnSpc>
                <a:spcPts val="2520"/>
              </a:lnSpc>
            </a:pPr>
          </a:p>
          <a:p>
            <a:pPr algn="l">
              <a:lnSpc>
                <a:spcPts val="3240"/>
              </a:lnSpc>
            </a:pPr>
            <a:r>
              <a:rPr lang="en-US" sz="2700">
                <a:solidFill>
                  <a:srgbClr val="000000"/>
                </a:solidFill>
                <a:latin typeface="Calibri (MS)"/>
                <a:ea typeface="Calibri (MS)"/>
                <a:cs typeface="Calibri (MS)"/>
                <a:sym typeface="Calibri (MS)"/>
              </a:rPr>
              <a:t>Partner with engaged influencers to attract new users and enhance current user participation.</a:t>
            </a:r>
          </a:p>
        </p:txBody>
      </p:sp>
      <p:sp>
        <p:nvSpPr>
          <p:cNvPr name="Freeform 11" id="11"/>
          <p:cNvSpPr/>
          <p:nvPr/>
        </p:nvSpPr>
        <p:spPr>
          <a:xfrm flipH="false" flipV="false" rot="0">
            <a:off x="14653556" y="3055238"/>
            <a:ext cx="1075068" cy="1075068"/>
          </a:xfrm>
          <a:custGeom>
            <a:avLst/>
            <a:gdLst/>
            <a:ahLst/>
            <a:cxnLst/>
            <a:rect r="r" b="b" t="t" l="l"/>
            <a:pathLst>
              <a:path h="1075068" w="1075068">
                <a:moveTo>
                  <a:pt x="0" y="0"/>
                </a:moveTo>
                <a:lnTo>
                  <a:pt x="1075068" y="0"/>
                </a:lnTo>
                <a:lnTo>
                  <a:pt x="1075068" y="1075068"/>
                </a:lnTo>
                <a:lnTo>
                  <a:pt x="0" y="10750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0621528" y="3101912"/>
            <a:ext cx="1076971" cy="1076971"/>
          </a:xfrm>
          <a:custGeom>
            <a:avLst/>
            <a:gdLst/>
            <a:ahLst/>
            <a:cxnLst/>
            <a:rect r="r" b="b" t="t" l="l"/>
            <a:pathLst>
              <a:path h="1076971" w="1076971">
                <a:moveTo>
                  <a:pt x="0" y="0"/>
                </a:moveTo>
                <a:lnTo>
                  <a:pt x="1076971" y="0"/>
                </a:lnTo>
                <a:lnTo>
                  <a:pt x="1076971" y="1076970"/>
                </a:lnTo>
                <a:lnTo>
                  <a:pt x="0" y="10769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6010716" y="3253803"/>
            <a:ext cx="925079" cy="925079"/>
          </a:xfrm>
          <a:custGeom>
            <a:avLst/>
            <a:gdLst/>
            <a:ahLst/>
            <a:cxnLst/>
            <a:rect r="r" b="b" t="t" l="l"/>
            <a:pathLst>
              <a:path h="925079" w="925079">
                <a:moveTo>
                  <a:pt x="0" y="0"/>
                </a:moveTo>
                <a:lnTo>
                  <a:pt x="925079" y="0"/>
                </a:lnTo>
                <a:lnTo>
                  <a:pt x="925079" y="925079"/>
                </a:lnTo>
                <a:lnTo>
                  <a:pt x="0" y="9250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1739018" y="3177063"/>
            <a:ext cx="1079139" cy="945718"/>
          </a:xfrm>
          <a:custGeom>
            <a:avLst/>
            <a:gdLst/>
            <a:ahLst/>
            <a:cxnLst/>
            <a:rect r="r" b="b" t="t" l="l"/>
            <a:pathLst>
              <a:path h="945718" w="1079139">
                <a:moveTo>
                  <a:pt x="0" y="0"/>
                </a:moveTo>
                <a:lnTo>
                  <a:pt x="1079139" y="0"/>
                </a:lnTo>
                <a:lnTo>
                  <a:pt x="1079139" y="945718"/>
                </a:lnTo>
                <a:lnTo>
                  <a:pt x="0" y="94571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311" y="0"/>
            <a:ext cx="18340311" cy="10287000"/>
          </a:xfrm>
          <a:custGeom>
            <a:avLst/>
            <a:gdLst/>
            <a:ahLst/>
            <a:cxnLst/>
            <a:rect r="r" b="b" t="t" l="l"/>
            <a:pathLst>
              <a:path h="10287000" w="18340311">
                <a:moveTo>
                  <a:pt x="0" y="0"/>
                </a:moveTo>
                <a:lnTo>
                  <a:pt x="18340311" y="0"/>
                </a:lnTo>
                <a:lnTo>
                  <a:pt x="18340311" y="10287000"/>
                </a:lnTo>
                <a:lnTo>
                  <a:pt x="0" y="10287000"/>
                </a:lnTo>
                <a:lnTo>
                  <a:pt x="0" y="0"/>
                </a:lnTo>
                <a:close/>
              </a:path>
            </a:pathLst>
          </a:custGeom>
          <a:blipFill>
            <a:blip r:embed="rId2">
              <a:alphaModFix amt="32999"/>
            </a:blip>
            <a:stretch>
              <a:fillRect l="0" t="-9503" r="0" b="-9503"/>
            </a:stretch>
          </a:blipFill>
        </p:spPr>
      </p:sp>
      <p:sp>
        <p:nvSpPr>
          <p:cNvPr name="TextBox 3" id="3"/>
          <p:cNvSpPr txBox="true"/>
          <p:nvPr/>
        </p:nvSpPr>
        <p:spPr>
          <a:xfrm rot="0">
            <a:off x="1922577" y="2483762"/>
            <a:ext cx="15053034" cy="5981699"/>
          </a:xfrm>
          <a:prstGeom prst="rect">
            <a:avLst/>
          </a:prstGeom>
        </p:spPr>
        <p:txBody>
          <a:bodyPr anchor="t" rtlCol="false" tIns="0" lIns="0" bIns="0" rIns="0">
            <a:spAutoFit/>
          </a:bodyPr>
          <a:lstStyle/>
          <a:p>
            <a:pPr algn="l">
              <a:lnSpc>
                <a:spcPts val="2520"/>
              </a:lnSpc>
            </a:pPr>
          </a:p>
          <a:p>
            <a:pPr algn="l" marL="542925" indent="-271462" lvl="1">
              <a:lnSpc>
                <a:spcPts val="3600"/>
              </a:lnSpc>
              <a:buFont typeface="Arial"/>
              <a:buChar char="•"/>
            </a:pPr>
            <a:r>
              <a:rPr lang="en-US" b="true" sz="3000">
                <a:solidFill>
                  <a:srgbClr val="000000"/>
                </a:solidFill>
                <a:latin typeface="Roboto Bold"/>
                <a:ea typeface="Roboto Bold"/>
                <a:cs typeface="Roboto Bold"/>
                <a:sym typeface="Roboto Bold"/>
              </a:rPr>
              <a:t>User Acquisition Efforts:</a:t>
            </a:r>
          </a:p>
          <a:p>
            <a:pPr algn="l" marL="542925" indent="-271462" lvl="1">
              <a:lnSpc>
                <a:spcPts val="3600"/>
              </a:lnSpc>
            </a:pPr>
            <a:r>
              <a:rPr lang="en-US" sz="3000">
                <a:solidFill>
                  <a:srgbClr val="000000"/>
                </a:solidFill>
                <a:latin typeface="Roboto"/>
                <a:ea typeface="Roboto"/>
                <a:cs typeface="Roboto"/>
                <a:sym typeface="Roboto"/>
              </a:rPr>
              <a:t>Leverage influencer partnerships and ambassador programs to attract new users, while implementing educational initiatives to help them effectively engage with the platform.</a:t>
            </a:r>
          </a:p>
          <a:p>
            <a:pPr algn="l" marL="380048" indent="-190024" lvl="1">
              <a:lnSpc>
                <a:spcPts val="2520"/>
              </a:lnSpc>
            </a:pPr>
          </a:p>
          <a:p>
            <a:pPr algn="l" marL="542925" indent="-271462" lvl="1">
              <a:lnSpc>
                <a:spcPts val="3600"/>
              </a:lnSpc>
              <a:buFont typeface="Arial"/>
              <a:buChar char="•"/>
            </a:pPr>
            <a:r>
              <a:rPr lang="en-US" b="true" sz="3000">
                <a:solidFill>
                  <a:srgbClr val="000000"/>
                </a:solidFill>
                <a:latin typeface="Roboto Bold"/>
                <a:ea typeface="Roboto Bold"/>
                <a:cs typeface="Roboto Bold"/>
                <a:sym typeface="Roboto Bold"/>
              </a:rPr>
              <a:t>User Retention Strategies:</a:t>
            </a:r>
          </a:p>
          <a:p>
            <a:pPr algn="l" marL="542925" indent="-271462" lvl="1">
              <a:lnSpc>
                <a:spcPts val="3600"/>
              </a:lnSpc>
            </a:pPr>
            <a:r>
              <a:rPr lang="en-US" sz="3000">
                <a:solidFill>
                  <a:srgbClr val="000000"/>
                </a:solidFill>
                <a:latin typeface="Roboto"/>
                <a:ea typeface="Roboto"/>
                <a:cs typeface="Roboto"/>
                <a:sym typeface="Roboto"/>
              </a:rPr>
              <a:t>Use personalized content recommendations, exclusive offers, and feedback mechanisms to retain users and address inactivity.</a:t>
            </a:r>
          </a:p>
          <a:p>
            <a:pPr algn="l" marL="380048" indent="-190024" lvl="1">
              <a:lnSpc>
                <a:spcPts val="2520"/>
              </a:lnSpc>
            </a:pPr>
          </a:p>
          <a:p>
            <a:pPr algn="l" marL="542925" indent="-271462" lvl="1">
              <a:lnSpc>
                <a:spcPts val="3600"/>
              </a:lnSpc>
              <a:buFont typeface="Arial"/>
              <a:buChar char="•"/>
            </a:pPr>
            <a:r>
              <a:rPr lang="en-US" b="true" sz="3000">
                <a:solidFill>
                  <a:srgbClr val="000000"/>
                </a:solidFill>
                <a:latin typeface="Roboto Bold"/>
                <a:ea typeface="Roboto Bold"/>
                <a:cs typeface="Roboto Bold"/>
                <a:sym typeface="Roboto Bold"/>
              </a:rPr>
              <a:t>User Engagement Initiatives:</a:t>
            </a:r>
          </a:p>
          <a:p>
            <a:pPr algn="l" marL="542925" indent="-271462" lvl="1">
              <a:lnSpc>
                <a:spcPts val="3600"/>
              </a:lnSpc>
            </a:pPr>
            <a:r>
              <a:rPr lang="en-US" sz="3000">
                <a:solidFill>
                  <a:srgbClr val="000000"/>
                </a:solidFill>
                <a:latin typeface="Roboto"/>
                <a:ea typeface="Roboto"/>
                <a:cs typeface="Roboto"/>
                <a:sym typeface="Roboto"/>
              </a:rPr>
              <a:t>Focus on re-engagement campaigns, tag usage promotions, and community-building activities to encourage inactive and moderately active users to enhance their overall experience.</a:t>
            </a:r>
          </a:p>
        </p:txBody>
      </p:sp>
      <p:sp>
        <p:nvSpPr>
          <p:cNvPr name="TextBox 4" id="4"/>
          <p:cNvSpPr txBox="true"/>
          <p:nvPr/>
        </p:nvSpPr>
        <p:spPr>
          <a:xfrm rot="0">
            <a:off x="6112183" y="1615187"/>
            <a:ext cx="6063634" cy="878100"/>
          </a:xfrm>
          <a:prstGeom prst="rect">
            <a:avLst/>
          </a:prstGeom>
        </p:spPr>
        <p:txBody>
          <a:bodyPr anchor="t" rtlCol="false" tIns="0" lIns="0" bIns="0" rIns="0">
            <a:spAutoFit/>
          </a:bodyPr>
          <a:lstStyle/>
          <a:p>
            <a:pPr algn="ctr">
              <a:lnSpc>
                <a:spcPts val="6480"/>
              </a:lnSpc>
            </a:pPr>
            <a:r>
              <a:rPr lang="en-US" b="true" sz="5400">
                <a:solidFill>
                  <a:srgbClr val="00695C"/>
                </a:solidFill>
                <a:latin typeface="Century Gothic Paneuropean Bold"/>
                <a:ea typeface="Century Gothic Paneuropean Bold"/>
                <a:cs typeface="Century Gothic Paneuropean Bold"/>
                <a:sym typeface="Century Gothic Paneuropean Bold"/>
              </a:rPr>
              <a:t>CONCLUSION</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24443" y="1442949"/>
            <a:ext cx="11121081" cy="8229600"/>
          </a:xfrm>
          <a:custGeom>
            <a:avLst/>
            <a:gdLst/>
            <a:ahLst/>
            <a:cxnLst/>
            <a:rect r="r" b="b" t="t" l="l"/>
            <a:pathLst>
              <a:path h="8229600" w="11121081">
                <a:moveTo>
                  <a:pt x="0" y="0"/>
                </a:moveTo>
                <a:lnTo>
                  <a:pt x="11121081" y="0"/>
                </a:lnTo>
                <a:lnTo>
                  <a:pt x="11121081" y="8229600"/>
                </a:lnTo>
                <a:lnTo>
                  <a:pt x="0" y="8229600"/>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DAHJVrGbREo</dc:identifier>
  <dcterms:modified xsi:type="dcterms:W3CDTF">2011-08-01T06:04:30Z</dcterms:modified>
  <cp:revision>1</cp:revision>
  <dc:title>Presented By: Shobha Vyshnavi</dc:title>
</cp:coreProperties>
</file>